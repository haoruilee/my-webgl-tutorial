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72" r:id="rId7"/>
    <p:sldId id="273" r:id="rId8"/>
    <p:sldId id="270" r:id="rId9"/>
  </p:sldIdLst>
  <p:sldSz cx="12192000" cy="6858000"/>
  <p:notesSz cx="6858000" cy="9144000"/>
  <p:embeddedFontLst>
    <p:embeddedFont>
      <p:font typeface="微软雅黑" panose="020B0503020204020204" charset="-122"/>
      <p:regular r:id="rId14"/>
    </p:embeddedFont>
    <p:embeddedFont>
      <p:font typeface="仿宋" panose="02010609060101010101" charset="-122"/>
      <p:regular r:id="rId15"/>
    </p:embeddedFont>
    <p:embeddedFont>
      <p:font typeface="Consolas" panose="020B0609020204030204" charset="0"/>
      <p:regular r:id="rId16"/>
      <p:bold r:id="rId17"/>
      <p:italic r:id="rId18"/>
      <p:boldItalic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212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4592955" y="3966845"/>
            <a:ext cx="2941320" cy="3987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汇报人：陆家俊</a:t>
            </a:r>
            <a:endParaRPr lang="zh-CN" altLang="en-US" sz="20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2148840" y="4109720"/>
            <a:ext cx="226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7682230" y="4109720"/>
            <a:ext cx="23075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248660" y="2311400"/>
            <a:ext cx="5695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/>
              <a:t>图形学实验一报告</a:t>
            </a:r>
            <a:endParaRPr lang="zh-CN" altLang="en-US" sz="5400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2550160"/>
            <a:ext cx="200660" cy="200660"/>
          </a:xfrm>
          <a:prstGeom prst="rect">
            <a:avLst/>
          </a:prstGeom>
        </p:spPr>
      </p:pic>
      <p:pic>
        <p:nvPicPr>
          <p:cNvPr id="44" name="图片 43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4120515"/>
            <a:ext cx="200660" cy="200660"/>
          </a:xfrm>
          <a:prstGeom prst="rect">
            <a:avLst/>
          </a:prstGeom>
        </p:spPr>
      </p:pic>
      <p:pic>
        <p:nvPicPr>
          <p:cNvPr id="45" name="图片 44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285" y="2529840"/>
            <a:ext cx="200660" cy="200660"/>
          </a:xfrm>
          <a:prstGeom prst="rect">
            <a:avLst/>
          </a:prstGeom>
        </p:spPr>
      </p:pic>
      <p:pic>
        <p:nvPicPr>
          <p:cNvPr id="46" name="图片 45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920" y="4120515"/>
            <a:ext cx="200660" cy="200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20" y="1702435"/>
            <a:ext cx="3695700" cy="3634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79955" y="2002790"/>
            <a:ext cx="3881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绘制的图形为小恶魔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emoji</a:t>
            </a:r>
            <a:endParaRPr lang="en-US" altLang="zh-CN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79955" y="2639695"/>
            <a:ext cx="47028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图形由：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三角形（耳朵）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圆形（眼睛、脸）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矩形（眉毛）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月牙形（嘴）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组成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90165" y="662305"/>
            <a:ext cx="2739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总述</a:t>
            </a:r>
            <a:endParaRPr lang="zh-CN" altLang="en-US" sz="4000" b="1"/>
          </a:p>
        </p:txBody>
      </p:sp>
    </p:spTree>
    <p:custDataLst>
      <p:tags r:id="rId4"/>
    </p:custDataLst>
  </p:cSld>
  <p:clrMapOvr>
    <a:masterClrMapping/>
  </p:clrMapOvr>
  <p:transition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90165" y="662305"/>
            <a:ext cx="2739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圆形的实现</a:t>
            </a:r>
            <a:endParaRPr lang="zh-CN" altLang="en-US" sz="4000" b="1"/>
          </a:p>
        </p:txBody>
      </p:sp>
      <p:sp>
        <p:nvSpPr>
          <p:cNvPr id="7" name="文本框 6"/>
          <p:cNvSpPr txBox="1"/>
          <p:nvPr/>
        </p:nvSpPr>
        <p:spPr>
          <a:xfrm>
            <a:off x="1630680" y="3986530"/>
            <a:ext cx="85788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for (var i = 0; i &lt; 361; i++) {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vFace.push(vec2(0.76 * Math.sin(Math.PI / 180 * i), 0.76 * Math.cos(Math.PI / 180 * i)));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vPurple2.push(vec4(148 / 255, 0 / 255, 211 / 255, 1.0));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}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	......</a:t>
            </a:r>
            <a:endParaRPr lang="en-US" altLang="zh-CN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gl.drawArrays(gl.TRIANGLE_FAN, 0, 362);</a:t>
            </a:r>
            <a:endParaRPr lang="en-US" altLang="zh-CN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80" y="2014220"/>
            <a:ext cx="60731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将圆形分成若干个小扇形，用三角形近似扇形，最后用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TRIANGLE_FAN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模式进行绘制；圆心的颜色设置为白色，使其产生由里向外的渐变效果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515" y="489585"/>
            <a:ext cx="3074035" cy="3023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90165" y="662305"/>
            <a:ext cx="51136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月牙形（嘴）的实现</a:t>
            </a:r>
            <a:endParaRPr lang="zh-CN" altLang="en-US" sz="4000" b="1"/>
          </a:p>
        </p:txBody>
      </p:sp>
      <p:sp>
        <p:nvSpPr>
          <p:cNvPr id="7" name="文本框 6"/>
          <p:cNvSpPr txBox="1"/>
          <p:nvPr/>
        </p:nvSpPr>
        <p:spPr>
          <a:xfrm>
            <a:off x="1630680" y="3780155"/>
            <a:ext cx="83680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for (var i = 1; i &lt; 92; i++) {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vMouth.push(vec2(0.45 * Math.sin(Math.PI / 180 * (-45+i)), 0.02-0.45 * Math.cos(Math.PI / 180 * (-45+i))));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vMouth.push(vec2(0.34 * Math.sin(Math.PI / 180 * (-60+i*4/3)), -0.17-0.34 * Math.cos(Math.PI / 180 * (-60+i*4/3))));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}</a:t>
            </a:r>
            <a:endParaRPr lang="zh-CN" altLang="en-US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	......</a:t>
            </a:r>
            <a:endParaRPr lang="en-US" altLang="zh-CN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gl.drawArrays(gl.TRIANGLE_STRIP, 0, 183);</a:t>
            </a:r>
            <a:endParaRPr lang="en-US" altLang="zh-CN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80" y="2014220"/>
            <a:ext cx="5836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嘴由两个圆弧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组成，按照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一个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上弧线的点、一个下弧线的点的顺序依次连接成三角形，用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TRIANGLE_STRIP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模式绘制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aphicFrame>
        <p:nvGraphicFramePr>
          <p:cNvPr id="10" name="对象 9"/>
          <p:cNvGraphicFramePr/>
          <p:nvPr/>
        </p:nvGraphicFramePr>
        <p:xfrm>
          <a:off x="8159750" y="979170"/>
          <a:ext cx="3186430" cy="272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" imgW="1493520" imgH="1531620" progId="Paint.Picture">
                  <p:embed/>
                </p:oleObj>
              </mc:Choice>
              <mc:Fallback>
                <p:oleObj name="" r:id="rId1" imgW="1493520" imgH="153162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59750" y="979170"/>
                        <a:ext cx="3186430" cy="2727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2550160"/>
            <a:ext cx="200660" cy="200660"/>
          </a:xfrm>
          <a:prstGeom prst="rect">
            <a:avLst/>
          </a:prstGeom>
        </p:spPr>
      </p:pic>
      <p:pic>
        <p:nvPicPr>
          <p:cNvPr id="44" name="图片 43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4120515"/>
            <a:ext cx="200660" cy="200660"/>
          </a:xfrm>
          <a:prstGeom prst="rect">
            <a:avLst/>
          </a:prstGeom>
        </p:spPr>
      </p:pic>
      <p:pic>
        <p:nvPicPr>
          <p:cNvPr id="45" name="图片 44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285" y="2529840"/>
            <a:ext cx="200660" cy="200660"/>
          </a:xfrm>
          <a:prstGeom prst="rect">
            <a:avLst/>
          </a:prstGeom>
        </p:spPr>
      </p:pic>
      <p:pic>
        <p:nvPicPr>
          <p:cNvPr id="46" name="图片 45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920" y="4120515"/>
            <a:ext cx="200660" cy="200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590" y="3486150"/>
            <a:ext cx="2664460" cy="26206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79955" y="2002790"/>
            <a:ext cx="76879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图形中的曲线由直线近似，可改变圆弧上一个小三角形对应圆心的度数来提高曲线的精度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90165" y="662305"/>
            <a:ext cx="2739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参数</a:t>
            </a:r>
            <a:endParaRPr lang="zh-CN" altLang="en-US" sz="4000" b="1"/>
          </a:p>
        </p:txBody>
      </p:sp>
    </p:spTree>
    <p:custDataLst>
      <p:tags r:id="rId4"/>
    </p:custDataLst>
  </p:cSld>
  <p:clrMapOvr>
    <a:masterClrMapping/>
  </p:clrMapOvr>
  <p:transition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75380" y="2364105"/>
            <a:ext cx="3345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dirty="0">
                <a:solidFill>
                  <a:schemeClr val="tx1"/>
                </a:solidFill>
                <a:latin typeface="+mn-ea"/>
                <a:cs typeface="思源黑体 Light" panose="020B0300000000000000" charset="-122"/>
                <a:sym typeface="+mn-ea"/>
              </a:rPr>
              <a:t>感谢聆听！</a:t>
            </a:r>
            <a:endParaRPr lang="zh-CN" altLang="en-US" sz="5400" dirty="0">
              <a:solidFill>
                <a:schemeClr val="tx1"/>
              </a:solidFill>
              <a:latin typeface="+mn-ea"/>
              <a:cs typeface="思源黑体 Light" panose="020B03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610" y="1986280"/>
            <a:ext cx="1600835" cy="15754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92955" y="3966845"/>
            <a:ext cx="2941320" cy="3987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汇报人：陆家俊</a:t>
            </a:r>
            <a:endParaRPr lang="zh-CN" altLang="en-US" sz="20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148840" y="4109720"/>
            <a:ext cx="226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7682230" y="4109720"/>
            <a:ext cx="23075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ransition>
    <p:blinds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WPS 演示</Application>
  <PresentationFormat>宽屏</PresentationFormat>
  <Paragraphs>47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HAKUYOLiuTi3500</vt:lpstr>
      <vt:lpstr>新宋体</vt:lpstr>
      <vt:lpstr>思源黑體 ExtraLight</vt:lpstr>
      <vt:lpstr>思源黑体 Light</vt:lpstr>
      <vt:lpstr>黑体</vt:lpstr>
      <vt:lpstr>Poppins SemiBold</vt:lpstr>
      <vt:lpstr>Arial Unicode MS</vt:lpstr>
      <vt:lpstr>Girls Marks</vt:lpstr>
      <vt:lpstr>Times New Roman</vt:lpstr>
      <vt:lpstr>仿宋</vt:lpstr>
      <vt:lpstr>华光中楷_CNKI</vt:lpstr>
      <vt:lpstr>华光中雅_CNKI</vt:lpstr>
      <vt:lpstr>Consolas</vt:lpstr>
      <vt:lpstr>Office 主题​​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鳴</cp:lastModifiedBy>
  <cp:revision>53</cp:revision>
  <dcterms:created xsi:type="dcterms:W3CDTF">2019-06-19T02:08:00Z</dcterms:created>
  <dcterms:modified xsi:type="dcterms:W3CDTF">2020-10-24T12:24:00Z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