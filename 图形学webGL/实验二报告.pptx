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257" r:id="rId5"/>
    <p:sldId id="258" r:id="rId6"/>
    <p:sldId id="272" r:id="rId7"/>
    <p:sldId id="273" r:id="rId8"/>
    <p:sldId id="277" r:id="rId9"/>
    <p:sldId id="270" r:id="rId10"/>
  </p:sldIdLst>
  <p:sldSz cx="12192000" cy="6858000"/>
  <p:notesSz cx="6858000" cy="9144000"/>
  <p:embeddedFontLst>
    <p:embeddedFont>
      <p:font typeface="微软雅黑" panose="020B0503020204020204" charset="-122"/>
      <p:regular r:id="rId15"/>
    </p:embeddedFont>
    <p:embeddedFont>
      <p:font typeface="仿宋" panose="02010609060101010101" charset="-122"/>
      <p:regular r:id="rId16"/>
    </p:embeddedFont>
    <p:embeddedFont>
      <p:font typeface="Consolas" panose="020B0609020204030204" charset="0"/>
      <p:regular r:id="rId17"/>
      <p:bold r:id="rId18"/>
      <p:italic r:id="rId19"/>
      <p:boldItalic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212"/>
        <p:guide pos="386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6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 35"/>
          <p:cNvSpPr txBox="1"/>
          <p:nvPr/>
        </p:nvSpPr>
        <p:spPr>
          <a:xfrm>
            <a:off x="4592955" y="3966845"/>
            <a:ext cx="2941320" cy="3987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汇报人：李自超</a:t>
            </a:r>
            <a:endParaRPr lang="zh-CN" altLang="en-US" sz="20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2148840" y="4109720"/>
            <a:ext cx="226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H="1">
            <a:off x="7682230" y="4109720"/>
            <a:ext cx="23075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248660" y="2311400"/>
            <a:ext cx="56953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/>
              <a:t>图形学实验二</a:t>
            </a:r>
            <a:r>
              <a:rPr lang="zh-CN" altLang="en-US" sz="5400"/>
              <a:t>报告</a:t>
            </a:r>
            <a:endParaRPr lang="zh-CN" altLang="en-US" sz="5400"/>
          </a:p>
        </p:txBody>
      </p:sp>
    </p:spTree>
    <p:custDataLst>
      <p:tags r:id="rId1"/>
    </p:custDataLst>
  </p:cSld>
  <p:clrMapOvr>
    <a:masterClrMapping/>
  </p:clrMapOvr>
  <p:transition>
    <p:blind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-581660" y="125095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1334135" y="-110744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9215755" y="594106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11131550" y="3582670"/>
            <a:ext cx="2432050" cy="196469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2800" y="2550160"/>
            <a:ext cx="200660" cy="200660"/>
          </a:xfrm>
          <a:prstGeom prst="rect">
            <a:avLst/>
          </a:prstGeom>
        </p:spPr>
      </p:pic>
      <p:pic>
        <p:nvPicPr>
          <p:cNvPr id="44" name="图片 43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2800" y="4120515"/>
            <a:ext cx="200660" cy="200660"/>
          </a:xfrm>
          <a:prstGeom prst="rect">
            <a:avLst/>
          </a:prstGeom>
        </p:spPr>
      </p:pic>
      <p:pic>
        <p:nvPicPr>
          <p:cNvPr id="45" name="图片 44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9285" y="2529840"/>
            <a:ext cx="200660" cy="200660"/>
          </a:xfrm>
          <a:prstGeom prst="rect">
            <a:avLst/>
          </a:prstGeom>
        </p:spPr>
      </p:pic>
      <p:pic>
        <p:nvPicPr>
          <p:cNvPr id="46" name="图片 45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9920" y="4120515"/>
            <a:ext cx="200660" cy="2006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18665" y="1544320"/>
            <a:ext cx="38817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构建的三维模型为右图的小恶魔立体图形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18665" y="2550160"/>
            <a:ext cx="470281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模型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由：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 四棱锥（角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 正方体（头部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）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 长方体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（手、腿等）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   组成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可以整体运动并进行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鼠标交互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90165" y="662305"/>
            <a:ext cx="27393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总述</a:t>
            </a:r>
            <a:endParaRPr lang="zh-CN" altLang="en-US" sz="4000" b="1"/>
          </a:p>
        </p:txBody>
      </p:sp>
      <p:pic>
        <p:nvPicPr>
          <p:cNvPr id="6" name="图片 5" descr="%04R7A8A$7$~O)}PADOI[V3"/>
          <p:cNvPicPr>
            <a:picLocks noChangeAspect="1"/>
          </p:cNvPicPr>
          <p:nvPr/>
        </p:nvPicPr>
        <p:blipFill>
          <a:blip r:embed="rId3"/>
          <a:srcRect l="7753" t="2549" r="20915" b="-882"/>
          <a:stretch>
            <a:fillRect/>
          </a:stretch>
        </p:blipFill>
        <p:spPr>
          <a:xfrm>
            <a:off x="6979920" y="488315"/>
            <a:ext cx="3961130" cy="57321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>
    <p:blinds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-581660" y="125095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1334135" y="-110744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9215755" y="594106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11131550" y="3582670"/>
            <a:ext cx="2432050" cy="196469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609215" y="401320"/>
            <a:ext cx="33635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正方体</a:t>
            </a:r>
            <a:r>
              <a:rPr lang="zh-CN" altLang="en-US" sz="4000" b="1"/>
              <a:t>的实现</a:t>
            </a:r>
            <a:endParaRPr lang="zh-CN" altLang="en-US" sz="4000" b="1"/>
          </a:p>
        </p:txBody>
      </p:sp>
      <p:sp>
        <p:nvSpPr>
          <p:cNvPr id="7" name="文本框 6"/>
          <p:cNvSpPr txBox="1"/>
          <p:nvPr/>
        </p:nvSpPr>
        <p:spPr>
          <a:xfrm>
            <a:off x="215265" y="3701415"/>
            <a:ext cx="11633200" cy="2953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function initCube(sx,sy,sz,tx,ty,tz,rx,ry,rz) {</a:t>
            </a:r>
            <a:endParaRPr lang="en-US" altLang="zh-CN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var vertices = [</a:t>
            </a:r>
            <a:endParaRPr lang="en-US" altLang="zh-CN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vec3(0.5, 0.5, 0.5), vec3(-0.5, 0.5, 0.5), vec3(-0.5, -0.5, 0.5), vec3(0.5, -0.5, 0.5),</a:t>
            </a:r>
            <a:endParaRPr lang="en-US" altLang="zh-CN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vec3(0.5, 0.5, 0.5), vec3(0.5, -0.5, 0.5), vec3(0.5, -0.5, -0.5), vec3(0.5, 0.5, -0.5),</a:t>
            </a:r>
            <a:endParaRPr lang="en-US" altLang="zh-CN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vec3(0.5, 0.5, 0.5), vec3(0.5, 0.5, -0.5), vec3(-0.5, 0.5, -0.5), vec3(-0.5, 0.5, 0.5),</a:t>
            </a:r>
            <a:endParaRPr lang="en-US" altLang="zh-CN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vec3(-0.5, 0.5, 0.5), vec3(-0.5, 0.5, -0.5), vec3(-0.5, -0.5, -0.5), vec3(-0.5, -0.5, 0.5),</a:t>
            </a:r>
            <a:endParaRPr lang="en-US" altLang="zh-CN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vec3(-0.5, -0.5, -0.5), vec3(0.5, -0.5, -0.5), vec3(0.5, -0.5, 0.5), vec3(-0.5, -0.5, 0.5),</a:t>
            </a:r>
            <a:endParaRPr lang="en-US" altLang="zh-CN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vec3(0.5, -0.5, -0.5), vec3(-0.5, -0.5, -0.5), vec3(-0.5, 0.5, -0.5), vec3(0.5, 0.5, -0.5)</a:t>
            </a:r>
            <a:endParaRPr lang="en-US" altLang="zh-CN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]</a:t>
            </a:r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；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//前、后、左、右、上、下6</a:t>
            </a:r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个面的顶点</a:t>
            </a:r>
            <a:endParaRPr lang="zh-CN" altLang="en-US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var indices = [</a:t>
            </a:r>
            <a:endParaRPr lang="zh-CN" altLang="en-US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0, 1, 2, 0, 2, 3, 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rgbClr val="FF0000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前</a:t>
            </a:r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4, 5, 6, 4, 6, 7，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rgbClr val="FF0000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右</a:t>
            </a:r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8, 9, 10, 8, 10, 11, 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rgbClr val="FF0000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上</a:t>
            </a:r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12, 13, 14, 12, 14, 15, 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rgbClr val="FF0000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左</a:t>
            </a:r>
            <a:endParaRPr lang="zh-CN" altLang="en-US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16, 17, 18, 16, 18, 19,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rgbClr val="FF0000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下</a:t>
            </a:r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20, 21, 22, 20, 22, 23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rgbClr val="FF0000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后</a:t>
            </a:r>
            <a:endParaRPr lang="zh-CN" altLang="en-US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];/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</a:t>
            </a:r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索引</a:t>
            </a:r>
            <a:endParaRPr lang="zh-CN" altLang="en-US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</p:txBody>
      </p:sp>
      <p:pic>
        <p:nvPicPr>
          <p:cNvPr id="8" name="图片 7" descr="P_$SF7OBRBX9UNU78S2`LP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8975" y="605155"/>
            <a:ext cx="3705225" cy="28384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50720" y="1505585"/>
            <a:ext cx="589089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将正方体看作由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8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个顶点和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12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个三角形组成，那么一个正方体就被拆成6个面：前、后、左、右、上、下，每个面都由两个三角形组成。然后用drawElements()方法通过顶点索引绘制出正方体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p:transition>
    <p:blind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-581660" y="125095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1334135" y="-110744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9215755" y="594106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11131550" y="3582670"/>
            <a:ext cx="2432050" cy="196469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293620" y="544195"/>
            <a:ext cx="51136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四棱锥（角</a:t>
            </a:r>
            <a:r>
              <a:rPr lang="zh-CN" altLang="en-US" sz="4000" b="1"/>
              <a:t>）的实现</a:t>
            </a:r>
            <a:endParaRPr lang="zh-CN" altLang="en-US" sz="4000" b="1"/>
          </a:p>
        </p:txBody>
      </p:sp>
      <p:sp>
        <p:nvSpPr>
          <p:cNvPr id="7" name="文本框 6"/>
          <p:cNvSpPr txBox="1"/>
          <p:nvPr/>
        </p:nvSpPr>
        <p:spPr>
          <a:xfrm>
            <a:off x="806450" y="2696210"/>
            <a:ext cx="10929620" cy="3753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function initQuadrangularPyramid(sx,sy,sz,tx,ty,tz,rx,ry,rz) {</a:t>
            </a:r>
            <a:endParaRPr lang="zh-CN" altLang="en-US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var vertices = [</a:t>
            </a:r>
            <a:endParaRPr lang="zh-CN" altLang="en-US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vec3(0.12, -0.12, -0.5), vec3(0.12, 0.12, -0.5), vec3(0, 0, -0.8),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rgbClr val="FF0000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前</a:t>
            </a:r>
            <a:endParaRPr lang="zh-CN" altLang="en-US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vec3(0.12, -0.12, -0.5), vec3(-0.12, -0.12, -0.5), vec3(0, 0, -0.8),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rgbClr val="FF0000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左</a:t>
            </a:r>
            <a:endParaRPr lang="zh-CN" altLang="en-US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vec3(0.12, 0.12, -0.5), vec3(-0.12, 0.12, -0.5), vec3(0, 0, -0.8),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rgbClr val="FF0000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右</a:t>
            </a:r>
            <a:endParaRPr lang="zh-CN" altLang="en-US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vec3(-0.12, 0.12, -0.5), vec3(-0.12, -0.12, -0.5), vec3(0, 0, -0.8),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rgbClr val="FF0000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后</a:t>
            </a:r>
            <a:endParaRPr lang="zh-CN" altLang="en-US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vec3(-0.12, -0.12, -0.5), vec3(-0.12, 0.12, -0.5), vec3(0.12, 0.12, -0.5), vec3(0.12, -0.12, -0.5)</a:t>
            </a:r>
            <a:endParaRPr lang="zh-CN" altLang="en-US" sz="1400"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];</a:t>
            </a:r>
            <a:r>
              <a:rPr lang="en-US" altLang="zh-CN" sz="1400"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rgbClr val="FF0000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下</a:t>
            </a:r>
            <a:endParaRPr lang="zh-CN" altLang="en-US" sz="1400">
              <a:solidFill>
                <a:srgbClr val="FF0000"/>
              </a:solidFill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en-US" altLang="zh-CN" sz="1400">
                <a:solidFill>
                  <a:schemeClr val="tx1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chemeClr val="tx1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顶点</a:t>
            </a:r>
            <a:endParaRPr lang="zh-CN" altLang="en-US" sz="1400">
              <a:solidFill>
                <a:schemeClr val="tx1"/>
              </a:solidFill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solidFill>
                  <a:schemeClr val="tx1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var indices = [</a:t>
            </a:r>
            <a:endParaRPr lang="zh-CN" altLang="en-US" sz="1400">
              <a:solidFill>
                <a:schemeClr val="tx1"/>
              </a:solidFill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solidFill>
                  <a:schemeClr val="tx1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0, 1, 2,</a:t>
            </a:r>
            <a:endParaRPr lang="zh-CN" altLang="en-US" sz="1400">
              <a:solidFill>
                <a:schemeClr val="tx1"/>
              </a:solidFill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solidFill>
                  <a:schemeClr val="tx1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3, 4, 5,</a:t>
            </a:r>
            <a:endParaRPr lang="zh-CN" altLang="en-US" sz="1400">
              <a:solidFill>
                <a:schemeClr val="tx1"/>
              </a:solidFill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solidFill>
                  <a:schemeClr val="tx1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6, 7, 8,</a:t>
            </a:r>
            <a:endParaRPr lang="zh-CN" altLang="en-US" sz="1400">
              <a:solidFill>
                <a:schemeClr val="tx1"/>
              </a:solidFill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solidFill>
                  <a:schemeClr val="tx1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9, 10, 11,</a:t>
            </a:r>
            <a:endParaRPr lang="zh-CN" altLang="en-US" sz="1400">
              <a:solidFill>
                <a:schemeClr val="tx1"/>
              </a:solidFill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solidFill>
                  <a:schemeClr val="tx1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12, 13, 14,</a:t>
            </a:r>
            <a:endParaRPr lang="zh-CN" altLang="en-US" sz="1400">
              <a:solidFill>
                <a:schemeClr val="tx1"/>
              </a:solidFill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solidFill>
                  <a:schemeClr val="tx1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       14, 15, 12</a:t>
            </a:r>
            <a:endParaRPr lang="zh-CN" altLang="en-US" sz="1400">
              <a:solidFill>
                <a:schemeClr val="tx1"/>
              </a:solidFill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  <a:p>
            <a:r>
              <a:rPr lang="zh-CN" altLang="en-US" sz="1400">
                <a:solidFill>
                  <a:schemeClr val="tx1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 ]</a:t>
            </a:r>
            <a:r>
              <a:rPr lang="en-US" altLang="zh-CN" sz="1400">
                <a:solidFill>
                  <a:schemeClr val="tx1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//</a:t>
            </a:r>
            <a:r>
              <a:rPr lang="zh-CN" altLang="en-US" sz="1400">
                <a:solidFill>
                  <a:schemeClr val="tx1"/>
                </a:solidFill>
                <a:latin typeface="Consolas" panose="020B0609020204030204" charset="0"/>
                <a:ea typeface="仿宋" panose="02010609060101010101" charset="-122"/>
                <a:cs typeface="Consolas" panose="020B0609020204030204" charset="0"/>
              </a:rPr>
              <a:t>索引</a:t>
            </a:r>
            <a:endParaRPr lang="zh-CN" altLang="en-US" sz="1400">
              <a:solidFill>
                <a:schemeClr val="tx1"/>
              </a:solidFill>
              <a:latin typeface="Consolas" panose="020B0609020204030204" charset="0"/>
              <a:ea typeface="仿宋" panose="02010609060101010101" charset="-122"/>
              <a:cs typeface="Consolas" panose="020B06090202040302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638935" y="1621155"/>
            <a:ext cx="58369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由四个三角形与一个正方形底面构成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绘制方法与正方体类似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8" name="图片 7" descr="N{{(D0]MAMERAY6A@O_C1F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175" y="1068070"/>
            <a:ext cx="2322830" cy="1523365"/>
          </a:xfrm>
          <a:prstGeom prst="rect">
            <a:avLst/>
          </a:prstGeom>
        </p:spPr>
      </p:pic>
      <p:pic>
        <p:nvPicPr>
          <p:cNvPr id="9" name="图片 8" descr="Z1PB]]KGGMN4S[I)JLHGA~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965" y="504190"/>
            <a:ext cx="2411730" cy="219202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4924425" y="4926330"/>
            <a:ext cx="46405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颜色渐变效果：使三角形三个顶点的颜色不同，就会在中间区域内插值得出渐变效果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  <p:transition>
    <p:blind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-581660" y="125095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1334135" y="-110744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9215755" y="594106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11131550" y="3582670"/>
            <a:ext cx="2432050" cy="196469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2800" y="2550160"/>
            <a:ext cx="200660" cy="200660"/>
          </a:xfrm>
          <a:prstGeom prst="rect">
            <a:avLst/>
          </a:prstGeom>
        </p:spPr>
      </p:pic>
      <p:pic>
        <p:nvPicPr>
          <p:cNvPr id="44" name="图片 43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2800" y="4120515"/>
            <a:ext cx="200660" cy="200660"/>
          </a:xfrm>
          <a:prstGeom prst="rect">
            <a:avLst/>
          </a:prstGeom>
        </p:spPr>
      </p:pic>
      <p:pic>
        <p:nvPicPr>
          <p:cNvPr id="45" name="图片 44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9285" y="2529840"/>
            <a:ext cx="200660" cy="200660"/>
          </a:xfrm>
          <a:prstGeom prst="rect">
            <a:avLst/>
          </a:prstGeom>
        </p:spPr>
      </p:pic>
      <p:pic>
        <p:nvPicPr>
          <p:cNvPr id="46" name="图片 45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9920" y="4120515"/>
            <a:ext cx="200660" cy="2006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576830" y="209550"/>
            <a:ext cx="54025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整体运动与鼠标交互</a:t>
            </a:r>
            <a:endParaRPr lang="zh-CN" altLang="en-US" sz="4000" b="1"/>
          </a:p>
        </p:txBody>
      </p:sp>
      <p:pic>
        <p:nvPicPr>
          <p:cNvPr id="6" name="图片 5" descr="XR~%)LJ$}XG~M)`@(585@%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480" y="1045210"/>
            <a:ext cx="8801100" cy="2000250"/>
          </a:xfrm>
          <a:prstGeom prst="rect">
            <a:avLst/>
          </a:prstGeom>
        </p:spPr>
      </p:pic>
      <p:pic>
        <p:nvPicPr>
          <p:cNvPr id="7" name="图片 6" descr="RWI232S$4$Q67@6ZCLZ2)A9"/>
          <p:cNvPicPr>
            <a:picLocks noChangeAspect="1"/>
          </p:cNvPicPr>
          <p:nvPr/>
        </p:nvPicPr>
        <p:blipFill>
          <a:blip r:embed="rId4"/>
          <a:srcRect r="10330"/>
          <a:stretch>
            <a:fillRect/>
          </a:stretch>
        </p:blipFill>
        <p:spPr>
          <a:xfrm>
            <a:off x="15240" y="3808095"/>
            <a:ext cx="2502535" cy="2937510"/>
          </a:xfrm>
          <a:prstGeom prst="rect">
            <a:avLst/>
          </a:prstGeom>
        </p:spPr>
      </p:pic>
      <p:pic>
        <p:nvPicPr>
          <p:cNvPr id="10" name="图片 9" descr="K_SXC7M7W[_@M@8WE(NH5F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685165"/>
            <a:ext cx="3672205" cy="272034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576830" y="4420235"/>
            <a:ext cx="83616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交互</a:t>
            </a:r>
            <a:endParaRPr lang="zh-CN" altLang="en-US" sz="2400"/>
          </a:p>
          <a:p>
            <a:r>
              <a:rPr lang="en-US" altLang="zh-CN"/>
              <a:t>——</a:t>
            </a:r>
            <a:r>
              <a:rPr lang="zh-CN" altLang="en-US"/>
              <a:t>添加</a:t>
            </a:r>
            <a:r>
              <a:rPr lang="zh-CN" altLang="en-US"/>
              <a:t>事件响应程序：</a:t>
            </a:r>
            <a:endParaRPr lang="zh-CN" altLang="en-US"/>
          </a:p>
          <a:p>
            <a:r>
              <a:rPr lang="en-US" altLang="zh-CN"/>
              <a:t>	().onkeydown按下一个键盘按键时发生</a:t>
            </a:r>
            <a:r>
              <a:rPr lang="zh-CN" altLang="en-US"/>
              <a:t>、</a:t>
            </a:r>
            <a:r>
              <a:rPr lang="en-US" altLang="zh-CN"/>
              <a:t>().onclick</a:t>
            </a:r>
            <a:r>
              <a:rPr lang="zh-CN" altLang="en-US"/>
              <a:t>对象被鼠标</a:t>
            </a:r>
            <a:r>
              <a:rPr lang="zh-CN" altLang="en-US"/>
              <a:t>点击发生</a:t>
            </a:r>
            <a:endParaRPr lang="zh-CN" altLang="en-US"/>
          </a:p>
          <a:p>
            <a:r>
              <a:rPr lang="en-US" altLang="zh-CN"/>
              <a:t>——</a:t>
            </a:r>
            <a:r>
              <a:rPr lang="zh-CN" altLang="en-US"/>
              <a:t>添加事件</a:t>
            </a:r>
            <a:r>
              <a:rPr lang="zh-CN" altLang="en-US"/>
              <a:t>监听器</a:t>
            </a:r>
            <a:r>
              <a:rPr lang="en-US" altLang="zh-CN"/>
              <a:t>addEventListener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mousedown</a:t>
            </a:r>
            <a:r>
              <a:rPr lang="zh-CN" altLang="en-US"/>
              <a:t>、</a:t>
            </a:r>
            <a:r>
              <a:rPr lang="en-US" altLang="zh-CN"/>
              <a:t>mouseup</a:t>
            </a:r>
            <a:r>
              <a:rPr lang="zh-CN" altLang="en-US"/>
              <a:t>、</a:t>
            </a:r>
            <a:r>
              <a:rPr lang="en-US" altLang="zh-CN"/>
              <a:t>mousemove</a:t>
            </a:r>
            <a:r>
              <a:rPr lang="zh-CN" altLang="en-US"/>
              <a:t>监听鼠标状态实现轨迹球的效果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517775" y="3405505"/>
            <a:ext cx="65024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整体运动</a:t>
            </a:r>
            <a:endParaRPr lang="zh-CN" altLang="en-US" sz="2400"/>
          </a:p>
          <a:p>
            <a:r>
              <a:rPr lang="en-US" altLang="zh-CN"/>
              <a:t>——</a:t>
            </a:r>
            <a:r>
              <a:rPr lang="zh-CN" altLang="en-US"/>
              <a:t>所有组件以世界坐标系为参考</a:t>
            </a:r>
            <a:r>
              <a:rPr lang="zh-CN" altLang="en-US"/>
              <a:t>做变换：旋转、平移、缩放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6"/>
    </p:custDataLst>
  </p:cSld>
  <p:clrMapOvr>
    <a:masterClrMapping/>
  </p:clrMapOvr>
  <p:transition>
    <p:blind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-581660" y="125095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flipH="1">
            <a:off x="1334135" y="-110744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>
            <a:off x="9215755" y="5941060"/>
            <a:ext cx="2432050" cy="196469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11131550" y="3582670"/>
            <a:ext cx="2432050" cy="196469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2800" y="2550160"/>
            <a:ext cx="200660" cy="200660"/>
          </a:xfrm>
          <a:prstGeom prst="rect">
            <a:avLst/>
          </a:prstGeom>
        </p:spPr>
      </p:pic>
      <p:pic>
        <p:nvPicPr>
          <p:cNvPr id="44" name="图片 43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52800" y="4120515"/>
            <a:ext cx="200660" cy="200660"/>
          </a:xfrm>
          <a:prstGeom prst="rect">
            <a:avLst/>
          </a:prstGeom>
        </p:spPr>
      </p:pic>
      <p:pic>
        <p:nvPicPr>
          <p:cNvPr id="45" name="图片 44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9285" y="2529840"/>
            <a:ext cx="200660" cy="200660"/>
          </a:xfrm>
          <a:prstGeom prst="rect">
            <a:avLst/>
          </a:prstGeom>
        </p:spPr>
      </p:pic>
      <p:pic>
        <p:nvPicPr>
          <p:cNvPr id="46" name="图片 45" descr="气泡图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9920" y="4120515"/>
            <a:ext cx="200660" cy="2006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374265" y="464820"/>
            <a:ext cx="244475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思考</a:t>
            </a:r>
            <a:endParaRPr lang="zh-CN" altLang="en-US" sz="4000" b="1"/>
          </a:p>
        </p:txBody>
      </p:sp>
      <p:sp>
        <p:nvSpPr>
          <p:cNvPr id="8" name="文本框 7"/>
          <p:cNvSpPr txBox="1"/>
          <p:nvPr/>
        </p:nvSpPr>
        <p:spPr>
          <a:xfrm>
            <a:off x="1735455" y="1644650"/>
            <a:ext cx="448183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一、简单模型的图元划分方法：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利用点、线、圈、三角形这些图元来构成复杂模型。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①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d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rawArrays()</a:t>
            </a:r>
            <a:r>
              <a:rPr lang="en-US" altLang="zh-CN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:</a:t>
            </a:r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绘制使用顶点的模型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②drawElements()：使用顶点和索引绘制模型</a:t>
            </a:r>
            <a:endParaRPr lang="zh-CN" altLang="en-US" sz="24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35455" y="4505325"/>
            <a:ext cx="459486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</a:rPr>
              <a:t>二、模型组装与模型整体的运动所涉及的变换有什么不同？</a:t>
            </a:r>
            <a:endParaRPr lang="zh-CN" altLang="en-US" sz="2400">
              <a:latin typeface="仿宋" panose="02010609060101010101" charset="-122"/>
              <a:ea typeface="仿宋" panose="02010609060101010101" charset="-122"/>
            </a:endParaRPr>
          </a:p>
          <a:p>
            <a:r>
              <a:rPr lang="zh-CN" altLang="en-US" sz="2400">
                <a:latin typeface="仿宋" panose="02010609060101010101" charset="-122"/>
                <a:ea typeface="仿宋" panose="02010609060101010101" charset="-122"/>
              </a:rPr>
              <a:t>用于组装的部件的变换矩阵是在各自的函数中乘，整体运动是在总的框架下乘。</a:t>
            </a:r>
            <a:endParaRPr lang="en-US" altLang="zh-CN" sz="240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663055" y="2654300"/>
            <a:ext cx="417893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var R = mat4();</a:t>
            </a:r>
            <a:endParaRPr lang="zh-CN" altLang="en-US"/>
          </a:p>
          <a:p>
            <a:r>
              <a:rPr lang="zh-CN" altLang="en-US"/>
              <a:t>var rotateMatrix;</a:t>
            </a:r>
            <a:r>
              <a:rPr lang="en-US" altLang="zh-CN"/>
              <a:t>//</a:t>
            </a:r>
            <a:r>
              <a:rPr lang="zh-CN" altLang="en-US"/>
              <a:t>旋转</a:t>
            </a:r>
            <a:endParaRPr lang="zh-CN" altLang="en-US"/>
          </a:p>
          <a:p>
            <a:r>
              <a:rPr lang="zh-CN" altLang="en-US"/>
              <a:t>var S = mat4();</a:t>
            </a:r>
            <a:endParaRPr lang="zh-CN" altLang="en-US"/>
          </a:p>
          <a:p>
            <a:r>
              <a:rPr lang="zh-CN" altLang="en-US"/>
              <a:t>var scaleMatrix;</a:t>
            </a:r>
            <a:r>
              <a:rPr lang="en-US" altLang="zh-CN"/>
              <a:t>//</a:t>
            </a:r>
            <a:r>
              <a:rPr lang="zh-CN" altLang="en-US"/>
              <a:t>缩放</a:t>
            </a:r>
            <a:endParaRPr lang="zh-CN" altLang="en-US"/>
          </a:p>
          <a:p>
            <a:r>
              <a:rPr lang="zh-CN" altLang="en-US"/>
              <a:t>var M = mat4();</a:t>
            </a:r>
            <a:endParaRPr lang="zh-CN" altLang="en-US"/>
          </a:p>
          <a:p>
            <a:r>
              <a:rPr lang="zh-CN" altLang="en-US"/>
              <a:t>var modelViewMatrix;</a:t>
            </a:r>
            <a:r>
              <a:rPr lang="en-US" altLang="zh-CN"/>
              <a:t>//</a:t>
            </a:r>
            <a:r>
              <a:rPr lang="zh-CN" altLang="en-US"/>
              <a:t>对整体的变换。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gl_Position = rotateMatrix*modelViewMatrix*scaleMatrix*translateMatrix*vec4(vPosition,1.0);</a:t>
            </a:r>
            <a:endParaRPr lang="zh-CN" altLang="en-US"/>
          </a:p>
          <a:p>
            <a:r>
              <a:rPr lang="zh-CN" altLang="en-US"/>
              <a:t>（写在</a:t>
            </a:r>
            <a:r>
              <a:rPr lang="en-US" altLang="zh-CN"/>
              <a:t>.</a:t>
            </a:r>
            <a:r>
              <a:rPr lang="en-US" altLang="zh-CN"/>
              <a:t>html</a:t>
            </a:r>
            <a:r>
              <a:rPr lang="zh-CN" altLang="en-US"/>
              <a:t>中）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663055" y="645795"/>
            <a:ext cx="50311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var T = mat4();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     T = mult(T, scalem(sx, sy, sz));</a:t>
            </a:r>
            <a:r>
              <a:rPr lang="en-US" altLang="zh-CN">
                <a:sym typeface="+mn-ea"/>
              </a:rPr>
              <a:t>//</a:t>
            </a:r>
            <a:r>
              <a:rPr lang="zh-CN" altLang="en-US">
                <a:sym typeface="+mn-ea"/>
              </a:rPr>
              <a:t>缩放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     T = mult(T, translate(tx, ty, tz));</a:t>
            </a:r>
            <a:r>
              <a:rPr lang="en-US" altLang="zh-CN">
                <a:sym typeface="+mn-ea"/>
              </a:rPr>
              <a:t>//</a:t>
            </a:r>
            <a:r>
              <a:rPr lang="zh-CN" altLang="en-US">
                <a:sym typeface="+mn-ea"/>
              </a:rPr>
              <a:t>平移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     T = mult(T, rotateX(rx));</a:t>
            </a:r>
            <a:r>
              <a:rPr lang="en-US" altLang="zh-CN">
                <a:sym typeface="+mn-ea"/>
              </a:rPr>
              <a:t>//</a:t>
            </a:r>
            <a:r>
              <a:rPr lang="zh-CN" altLang="en-US">
                <a:sym typeface="+mn-ea"/>
              </a:rPr>
              <a:t>旋转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     </a:t>
            </a:r>
            <a:r>
              <a:rPr lang="en-US" altLang="zh-CN">
                <a:sym typeface="+mn-ea"/>
              </a:rPr>
              <a:t>//</a:t>
            </a:r>
            <a:r>
              <a:rPr lang="zh-CN" altLang="en-US">
                <a:sym typeface="+mn-ea"/>
              </a:rPr>
              <a:t>对单个部件的变换。</a:t>
            </a:r>
            <a:endParaRPr lang="zh-CN" altLang="en-US"/>
          </a:p>
          <a:p>
            <a:r>
              <a:rPr lang="zh-CN" altLang="en-US"/>
              <a:t>    （写在部件函数内部）</a:t>
            </a:r>
            <a:endParaRPr lang="zh-CN" altLang="en-US"/>
          </a:p>
        </p:txBody>
      </p:sp>
      <p:sp>
        <p:nvSpPr>
          <p:cNvPr id="14" name="右箭头 13"/>
          <p:cNvSpPr/>
          <p:nvPr/>
        </p:nvSpPr>
        <p:spPr>
          <a:xfrm>
            <a:off x="6793865" y="4477385"/>
            <a:ext cx="1118235" cy="555625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>
    <p:blind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75380" y="2364105"/>
            <a:ext cx="33458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 dirty="0">
                <a:solidFill>
                  <a:schemeClr val="tx1"/>
                </a:solidFill>
                <a:latin typeface="+mn-ea"/>
                <a:cs typeface="思源黑体 Light" panose="020B0300000000000000" charset="-122"/>
                <a:sym typeface="+mn-ea"/>
              </a:rPr>
              <a:t>感谢聆听！</a:t>
            </a:r>
            <a:endParaRPr lang="zh-CN" altLang="en-US" sz="5400" dirty="0">
              <a:solidFill>
                <a:schemeClr val="tx1"/>
              </a:solidFill>
              <a:latin typeface="+mn-ea"/>
              <a:cs typeface="思源黑体 Light" panose="020B03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92955" y="3966845"/>
            <a:ext cx="2941320" cy="3987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汇报人：李自超</a:t>
            </a:r>
            <a:endParaRPr lang="zh-CN" altLang="en-US" sz="20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148840" y="4109720"/>
            <a:ext cx="226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7682230" y="4109720"/>
            <a:ext cx="23075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1A$59}AN864]YJ~QR~$SQR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0620000">
            <a:off x="7080885" y="1557655"/>
            <a:ext cx="2392680" cy="23482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blinds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3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4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5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6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7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ags/tag68.xml><?xml version="1.0" encoding="utf-8"?>
<p:tagLst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  <p:tag name="KSO_WM_SLIDE_MODEL_TYPE" val="cov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2485</Words>
  <Application>WPS 演示</Application>
  <PresentationFormat>宽屏</PresentationFormat>
  <Paragraphs>105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仿宋</vt:lpstr>
      <vt:lpstr>Consolas</vt:lpstr>
      <vt:lpstr>思源黑体 Light</vt:lpstr>
      <vt:lpstr>黑体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鳴</cp:lastModifiedBy>
  <cp:revision>62</cp:revision>
  <dcterms:created xsi:type="dcterms:W3CDTF">2019-06-19T02:08:00Z</dcterms:created>
  <dcterms:modified xsi:type="dcterms:W3CDTF">2020-11-16T04:27:29Z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