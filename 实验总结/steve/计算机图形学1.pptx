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15" r:id="rId3"/>
    <p:sldId id="280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3" r:id="rId13"/>
    <p:sldId id="331" r:id="rId14"/>
    <p:sldId id="334" r:id="rId15"/>
    <p:sldId id="268" r:id="rId16"/>
    <p:sldId id="269" r:id="rId17"/>
    <p:sldId id="332" r:id="rId18"/>
    <p:sldId id="272" r:id="rId19"/>
    <p:sldId id="275" r:id="rId20"/>
    <p:sldId id="265" r:id="rId21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E5A005"/>
    <a:srgbClr val="58DAE4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1" autoAdjust="0"/>
    <p:restoredTop sz="83271" autoAdjust="0"/>
  </p:normalViewPr>
  <p:slideViewPr>
    <p:cSldViewPr snapToGrid="0">
      <p:cViewPr varScale="1">
        <p:scale>
          <a:sx n="72" d="100"/>
          <a:sy n="72" d="100"/>
        </p:scale>
        <p:origin x="1013" y="5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EF812-AB1D-432F-9503-617258D435B0}" type="datetimeFigureOut">
              <a:rPr lang="zh-CN" altLang="en-US" smtClean="0"/>
              <a:t>2020/10/27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27DED-A079-453E-BFFE-47DF1A111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237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大家好，我是</a:t>
            </a:r>
            <a:r>
              <a:rPr lang="en-US" altLang="zh-CN" dirty="0"/>
              <a:t>61518420</a:t>
            </a:r>
            <a:r>
              <a:rPr lang="zh-CN" altLang="en-US" dirty="0"/>
              <a:t>姚杳，我们小组的主题是“变身吧！</a:t>
            </a:r>
            <a:r>
              <a:rPr lang="en-US" altLang="zh-CN" dirty="0"/>
              <a:t>Steve</a:t>
            </a:r>
            <a:r>
              <a:rPr lang="zh-CN" altLang="en-US" dirty="0"/>
              <a:t>”，首先是代码成果展示。白天是平平无奇的</a:t>
            </a:r>
            <a:r>
              <a:rPr lang="en-US" altLang="zh-CN" dirty="0"/>
              <a:t>Steve</a:t>
            </a:r>
            <a:r>
              <a:rPr lang="zh-CN" altLang="en-US" dirty="0"/>
              <a:t>，生活有时还会遇到坎坷，但是到了晚上却变为了神秘侠客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63f3208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63f3208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3609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63f3208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63f3208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00" dirty="0"/>
              <a:t>首先第一步我们进行卡通图象的设计。在人物选取中，我们选择了我的世界中像素风主角</a:t>
            </a:r>
            <a:r>
              <a:rPr lang="en-US" altLang="zh-CN" sz="800" dirty="0"/>
              <a:t>Steve</a:t>
            </a:r>
            <a:r>
              <a:rPr lang="zh-CN" altLang="en-US" sz="800" dirty="0"/>
              <a:t>，设定好各个顶点的坐标</a:t>
            </a:r>
            <a:r>
              <a:rPr lang="en-US" altLang="zh-CN" sz="800" dirty="0"/>
              <a:t>【</a:t>
            </a:r>
            <a:r>
              <a:rPr lang="zh-CN" altLang="en-US" sz="800" dirty="0"/>
              <a:t>读</a:t>
            </a:r>
            <a:r>
              <a:rPr lang="en-US" altLang="zh-CN" sz="800" dirty="0"/>
              <a:t>PPT】</a:t>
            </a:r>
            <a:r>
              <a:rPr lang="zh-CN" altLang="en-US" sz="8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便于在</a:t>
            </a:r>
            <a:r>
              <a:rPr lang="en-US" altLang="zh-CN" sz="8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WebGL</a:t>
            </a:r>
            <a:r>
              <a:rPr lang="zh-CN" altLang="en-US" sz="8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的画布坐标系中确定人物图像的坐标点，并利用基本图形进行绘制。</a:t>
            </a:r>
            <a:endParaRPr lang="en-US" altLang="zh-CN" sz="8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63f3208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63f3208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00" dirty="0"/>
              <a:t>我们的实现过程大约分为以下三个步骤，首先是基本任务的绘制，利用渐变色彩进行背景绘制，最后视线交互变身</a:t>
            </a:r>
            <a:endParaRPr lang="en-US" altLang="zh-CN" sz="800" dirty="0"/>
          </a:p>
        </p:txBody>
      </p:sp>
    </p:spTree>
    <p:extLst>
      <p:ext uri="{BB962C8B-B14F-4D97-AF65-F5344CB8AC3E}">
        <p14:creationId xmlns:p14="http://schemas.microsoft.com/office/powerpoint/2010/main" val="54402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首先在基础人物的绘制中，我们使用了如下参数</a:t>
            </a:r>
            <a:r>
              <a:rPr lang="en-US" altLang="zh-CN" dirty="0" err="1"/>
              <a:t>gl</a:t>
            </a:r>
            <a:r>
              <a:rPr lang="zh-CN" altLang="en-US" dirty="0"/>
              <a:t>。</a:t>
            </a:r>
            <a:r>
              <a:rPr lang="en-US" altLang="zh-CN" dirty="0"/>
              <a:t>triangles</a:t>
            </a:r>
            <a:r>
              <a:rPr lang="zh-CN" altLang="en-US" dirty="0"/>
              <a:t>，</a:t>
            </a:r>
            <a:r>
              <a:rPr lang="en-US" altLang="zh-CN" dirty="0"/>
              <a:t>strip</a:t>
            </a:r>
            <a:r>
              <a:rPr lang="zh-CN" altLang="en-US" dirty="0"/>
              <a:t>，</a:t>
            </a:r>
            <a:r>
              <a:rPr lang="en-US" altLang="zh-CN" dirty="0"/>
              <a:t>fan</a:t>
            </a:r>
            <a:r>
              <a:rPr lang="zh-CN" altLang="en-US" dirty="0"/>
              <a:t>进行绘制基本图形，利用绘制的先后顺序来决定图层，通过图形的组合最终画出人物。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048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其中我们以圆形为例进行讲解，在</a:t>
            </a:r>
            <a:r>
              <a:rPr lang="en-US" altLang="zh-CN" dirty="0" err="1"/>
              <a:t>steve</a:t>
            </a:r>
            <a:r>
              <a:rPr lang="zh-CN" altLang="en-US" dirty="0"/>
              <a:t>绘制过程中，我们利用</a:t>
            </a:r>
            <a:r>
              <a:rPr lang="en-US" altLang="zh-CN" dirty="0"/>
              <a:t>fan</a:t>
            </a:r>
            <a:r>
              <a:rPr lang="zh-CN" altLang="en-US" dirty="0"/>
              <a:t>进行圆形的绘制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971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具体的绘制方法如图所示，我们可以把圆等分成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份，用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个三角形去拟合圆。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设圆上任意一个点跟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轴的夹角为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θ,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可得到点的坐标为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(θ), 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(θ)),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的取值范围是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[0,2π]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79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通过参数的改变，我们便可以绘制出不同的圆形。第一、一普通的实心圆形不同的是，我们可以将中心顶点的颜色设置为黄色，将周围顶点的颜色设置为白色，这样可以达到渐变的效果，使得太阳有发光的效果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063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第二点、我们可以修改圆心的位置，以达到圆形位置的改变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978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可以修改半径，达到改变圆形的大小的目的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101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第四点、通过修改常州和短轴的权重可以进行椭圆的绘制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8203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第四点、通过修改绘制的点数可以控制圆，半圆，扇形的切换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430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只看静态图片不够有趣，于是我们希望设计一种交互响应。点击之后史蒂夫就可以变身。那么我们又是如何实现</a:t>
            </a:r>
            <a:r>
              <a:rPr lang="en-US" altLang="zh-CN" dirty="0" err="1"/>
              <a:t>steve</a:t>
            </a:r>
            <a:r>
              <a:rPr lang="zh-CN" altLang="en-US" dirty="0"/>
              <a:t>的变身呢？</a:t>
            </a:r>
            <a:br>
              <a:rPr lang="zh-CN" altLang="en-US" dirty="0"/>
            </a:br>
            <a:r>
              <a:rPr lang="zh-CN" altLang="en-US" dirty="0"/>
              <a:t>实现方法是调用画布</a:t>
            </a:r>
            <a:r>
              <a:rPr lang="en-US" altLang="zh-CN" dirty="0"/>
              <a:t>canvas</a:t>
            </a:r>
            <a:r>
              <a:rPr lang="zh-CN" altLang="en-US" dirty="0"/>
              <a:t>自己的检测鼠标动作</a:t>
            </a:r>
            <a:r>
              <a:rPr lang="en-US" altLang="zh-CN" dirty="0" err="1"/>
              <a:t>onmousedown</a:t>
            </a:r>
            <a:r>
              <a:rPr lang="zh-CN" altLang="en-US" dirty="0"/>
              <a:t>，用</a:t>
            </a:r>
            <a:r>
              <a:rPr lang="en-US" altLang="zh-CN" dirty="0" err="1"/>
              <a:t>canvas.onmousedown</a:t>
            </a:r>
            <a:r>
              <a:rPr lang="en-US" altLang="zh-CN" dirty="0"/>
              <a:t> = function(event) {} </a:t>
            </a:r>
            <a:r>
              <a:rPr lang="zh-CN" altLang="en-US" dirty="0"/>
              <a:t>封装鼠标触发的函数进行暗夜</a:t>
            </a:r>
            <a:r>
              <a:rPr lang="en-US" altLang="zh-CN" dirty="0" err="1"/>
              <a:t>steve</a:t>
            </a:r>
            <a:r>
              <a:rPr lang="zh-CN" altLang="en-US" dirty="0"/>
              <a:t>的绘制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86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同时，我们设计了</a:t>
            </a:r>
            <a:r>
              <a:rPr lang="en-US" altLang="zh-CN" dirty="0"/>
              <a:t>onclick</a:t>
            </a:r>
            <a:r>
              <a:rPr lang="zh-CN" altLang="en-US" dirty="0"/>
              <a:t>函数，进行了图片的动态绘制，让</a:t>
            </a:r>
            <a:r>
              <a:rPr lang="en-US" altLang="zh-CN" dirty="0" err="1"/>
              <a:t>steve</a:t>
            </a:r>
            <a:r>
              <a:rPr lang="zh-CN" altLang="en-US" dirty="0"/>
              <a:t>的人生变得丰富有趣起来。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115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第二点、由入门到探索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424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在刚开始的时候，由于对</a:t>
            </a:r>
            <a:r>
              <a:rPr lang="en-US" altLang="zh-CN" dirty="0" err="1"/>
              <a:t>webgl</a:t>
            </a:r>
            <a:r>
              <a:rPr lang="zh-CN" altLang="en-US" dirty="0"/>
              <a:t>的不了解，我们小组在编写程序的时候为每一个图形的绘制都编写了一个</a:t>
            </a:r>
            <a:r>
              <a:rPr lang="en-US" altLang="zh-CN" dirty="0"/>
              <a:t>render</a:t>
            </a:r>
            <a:r>
              <a:rPr lang="zh-CN" altLang="en-US" dirty="0"/>
              <a:t>函数进行渲染，同时每一个基本图形的创建缓存和绑定缓存的代码也重复了多次。为了解决代码冗余的问题。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631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我们在</a:t>
            </a:r>
            <a:r>
              <a:rPr lang="en-US" altLang="zh-CN" dirty="0"/>
              <a:t>steve2.0</a:t>
            </a:r>
            <a:r>
              <a:rPr lang="zh-CN" altLang="en-US" dirty="0"/>
              <a:t>版本中将以上两种功能进行了函数的封装，极大的增加了代码的简洁性与可读性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1068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第三点、未来的展望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634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在静态绘制卡通图像的同时，我们小组也在思考，能否让</a:t>
            </a:r>
            <a:r>
              <a:rPr lang="en-US" altLang="zh-CN" dirty="0" err="1"/>
              <a:t>steve</a:t>
            </a:r>
            <a:r>
              <a:rPr lang="zh-CN" altLang="en-US" dirty="0"/>
              <a:t>动起来？也希望在今后的代码完善中能达到这样的效果。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943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487D82-DC15-4DAF-9473-AE409C3C66AC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5BF6B0-C36D-440A-AD73-8EA29B3AD3F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24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3E633-DA8D-45BD-BC9A-04E45D2C019B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E4A618-61C9-49C1-A3C9-29A45E88B31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81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FB35C-B86F-4BDB-A079-44ED41335422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E75EB9-49F0-4BBF-BA28-AA908F89840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39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D6376-160D-4AEA-AC14-070477CF4BC3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E1223B-D890-4086-8EC5-4FBB4364CB9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592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250A37-0D22-462D-AF85-780BECE159D6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F252F-97FB-4BDF-BACF-5F3A1DF246E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241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6F493-E3D6-46AF-B926-F37E75702836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6E9EF2-46A6-4F17-8E10-E3D5A351CB1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608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49758-5C85-44A3-957A-2EE638D4DF33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84C05-291F-46AC-B95A-71A166EF433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577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DA79DE-BA96-4B0C-882E-5B89DD92A8D0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1E992-BA08-4FDC-B07E-5A72046FC90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22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FD8063-8872-42F0-AB79-93CDABF58442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EC4857-3159-41A9-847C-7C628F77ABC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30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C2C74-C57A-4DFC-9881-19A3D43FE2AA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D2796B-2535-436B-ACF0-8B29EEF5AFB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467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60D41-4B2C-4357-A9CD-F9FF62C46D96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A11CE-5AEE-446C-B6DA-C72C345A6F9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169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72DA2-C517-4C49-A873-2C3C8536EB06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146F6-DB71-47B9-B06E-D2B6DF83458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406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43;p6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44" name="Google Shape;44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1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200" cy="2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2133"/>
              </a:spcBef>
              <a:spcAft>
                <a:spcPts val="2133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GB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29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微软雅黑" panose="020B0503020204020204" pitchFamily="34" charset="-122"/>
              </a:rPr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B5F0D00-5915-4B58-B58F-71E6A672182D}" type="datetime1">
              <a:rPr lang="zh-CN" altLang="en-US"/>
              <a:pPr>
                <a:defRPr/>
              </a:pPr>
              <a:t>2020/10/27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157F79F-83AC-407A-ADE4-B906204BFF6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3" r:id="rId13"/>
  </p:sldLayoutIdLst>
  <p:hf sldNum="0" hdr="0" ftr="0"/>
  <p:txStyles>
    <p:titleStyle>
      <a:lvl1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微软雅黑" panose="020B0503020204020204" pitchFamily="34" charset="-122"/>
        </a:defRPr>
      </a:lvl1pPr>
      <a:lvl2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2pPr>
      <a:lvl3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3pPr>
      <a:lvl4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4pPr>
      <a:lvl5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7FB2097-E629-4CEC-A3E2-CF0FECCC5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FEEFDD0-CF11-4C29-88D9-669BB901E5E4}"/>
              </a:ext>
            </a:extLst>
          </p:cNvPr>
          <p:cNvSpPr/>
          <p:nvPr/>
        </p:nvSpPr>
        <p:spPr>
          <a:xfrm>
            <a:off x="-24125" y="-255885"/>
            <a:ext cx="12292324" cy="8021515"/>
          </a:xfrm>
          <a:prstGeom prst="rect">
            <a:avLst/>
          </a:prstGeom>
          <a:solidFill>
            <a:srgbClr val="000000">
              <a:alpha val="37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219170">
              <a:defRPr sz="18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12" name="标题 2">
            <a:extLst>
              <a:ext uri="{FF2B5EF4-FFF2-40B4-BE49-F238E27FC236}">
                <a16:creationId xmlns:a16="http://schemas.microsoft.com/office/drawing/2014/main" id="{3A9AA708-D2EB-4133-8146-CFAC2E21B986}"/>
              </a:ext>
            </a:extLst>
          </p:cNvPr>
          <p:cNvSpPr txBox="1">
            <a:spLocks/>
          </p:cNvSpPr>
          <p:nvPr/>
        </p:nvSpPr>
        <p:spPr>
          <a:xfrm>
            <a:off x="263662" y="264888"/>
            <a:ext cx="12004537" cy="260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9pPr>
          </a:lstStyle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基于</a:t>
            </a:r>
            <a: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WebGL</a:t>
            </a:r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的</a:t>
            </a:r>
            <a: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2D</a:t>
            </a:r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人物设计</a:t>
            </a:r>
            <a:endParaRPr lang="en-US" altLang="zh-CN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	 ——</a:t>
            </a:r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变身吧！史蒂夫！</a:t>
            </a:r>
            <a:endParaRPr lang="en-US" altLang="zh-CN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DBA16F-6A70-4FBB-B0BC-EAA1C139AD3E}"/>
              </a:ext>
            </a:extLst>
          </p:cNvPr>
          <p:cNvSpPr txBox="1"/>
          <p:nvPr/>
        </p:nvSpPr>
        <p:spPr>
          <a:xfrm>
            <a:off x="263662" y="6059632"/>
            <a:ext cx="4692310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67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团队成员  姚杳 李浩瑞 石知一</a:t>
            </a:r>
            <a:endParaRPr lang="en-US" altLang="zh-CN" sz="2667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35480" y="39166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10" name="图片 1" descr="彩色校徽">
            <a:extLst>
              <a:ext uri="{FF2B5EF4-FFF2-40B4-BE49-F238E27FC236}">
                <a16:creationId xmlns:a16="http://schemas.microsoft.com/office/drawing/2014/main" id="{DB1A34CD-4F6C-454A-8E0B-9157F132382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619345" y="91350"/>
            <a:ext cx="444815" cy="463044"/>
          </a:xfrm>
          <a:prstGeom prst="rect">
            <a:avLst/>
          </a:prstGeom>
        </p:spPr>
      </p:pic>
      <p:sp>
        <p:nvSpPr>
          <p:cNvPr id="15" name="Google Shape;92;p14">
            <a:extLst>
              <a:ext uri="{FF2B5EF4-FFF2-40B4-BE49-F238E27FC236}">
                <a16:creationId xmlns:a16="http://schemas.microsoft.com/office/drawing/2014/main" id="{BC5AA93B-E795-421D-B2BE-A556F83470CF}"/>
              </a:ext>
            </a:extLst>
          </p:cNvPr>
          <p:cNvSpPr txBox="1">
            <a:spLocks/>
          </p:cNvSpPr>
          <p:nvPr/>
        </p:nvSpPr>
        <p:spPr>
          <a:xfrm>
            <a:off x="-184642" y="3039150"/>
            <a:ext cx="12561283" cy="7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9pPr>
          </a:lstStyle>
          <a:p>
            <a:pPr algn="ctr"/>
            <a:r>
              <a:rPr lang="zh-CN" altLang="en-US" sz="7200" dirty="0">
                <a:solidFill>
                  <a:schemeClr val="bg1"/>
                </a:solidFill>
              </a:rPr>
              <a:t>一、</a:t>
            </a:r>
            <a:r>
              <a:rPr lang="en-US" altLang="zh-CN" sz="7200" dirty="0" err="1">
                <a:solidFill>
                  <a:schemeClr val="bg1"/>
                </a:solidFill>
              </a:rPr>
              <a:t>WebGl</a:t>
            </a:r>
            <a:r>
              <a:rPr lang="zh-CN" altLang="en-US" sz="7200" dirty="0">
                <a:solidFill>
                  <a:schemeClr val="bg1"/>
                </a:solidFill>
              </a:rPr>
              <a:t>从入土到入门</a:t>
            </a:r>
            <a:endParaRPr lang="en-GB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784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262921" y="745340"/>
            <a:ext cx="4685752" cy="18420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/>
            <a:r>
              <a:rPr lang="zh-CN" altLang="en-US" b="1" dirty="0">
                <a:solidFill>
                  <a:schemeClr val="bg1"/>
                </a:solidFill>
              </a:rPr>
              <a:t>实现方案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10" name="图片 1" descr="彩色校徽">
            <a:extLst>
              <a:ext uri="{FF2B5EF4-FFF2-40B4-BE49-F238E27FC236}">
                <a16:creationId xmlns:a16="http://schemas.microsoft.com/office/drawing/2014/main" id="{DB1A34CD-4F6C-454A-8E0B-9157F132382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619345" y="91350"/>
            <a:ext cx="444815" cy="46304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B8A0654-E9B1-4531-988D-CCCF1E0C2E19}"/>
              </a:ext>
            </a:extLst>
          </p:cNvPr>
          <p:cNvSpPr/>
          <p:nvPr/>
        </p:nvSpPr>
        <p:spPr>
          <a:xfrm>
            <a:off x="650382" y="2350952"/>
            <a:ext cx="3632045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7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人物选取</a:t>
            </a:r>
            <a:endParaRPr lang="en-US" altLang="zh-CN" sz="3700" b="1" dirty="0">
              <a:solidFill>
                <a:schemeClr val="bg1"/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endParaRPr lang="en-US" altLang="zh-CN" sz="2400" b="1" dirty="0">
              <a:solidFill>
                <a:schemeClr val="bg1"/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        选择经典的像素风</a:t>
            </a:r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Minecraft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人物史蒂夫，便于在</a:t>
            </a:r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WebGL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的画布坐标系中确定人物图像的坐标点，并利用基本图形进行绘制。</a:t>
            </a:r>
            <a:endParaRPr lang="en-US" altLang="zh-CN" sz="2400" dirty="0">
              <a:solidFill>
                <a:schemeClr val="bg2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E4A064D-2425-4410-8219-47A960829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888" y="989728"/>
            <a:ext cx="6551937" cy="50777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76C6FDD-610E-4B5B-BD67-20F6AD446DFC}"/>
              </a:ext>
            </a:extLst>
          </p:cNvPr>
          <p:cNvSpPr/>
          <p:nvPr/>
        </p:nvSpPr>
        <p:spPr>
          <a:xfrm>
            <a:off x="6507461" y="6158803"/>
            <a:ext cx="2876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创作手稿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262921" y="745340"/>
            <a:ext cx="7375960" cy="18420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3733" dirty="0">
                <a:solidFill>
                  <a:schemeClr val="bg1"/>
                </a:solidFill>
              </a:rPr>
              <a:t>WebGL</a:t>
            </a:r>
            <a:r>
              <a:rPr lang="zh-CN" altLang="en-US" sz="3733" dirty="0">
                <a:solidFill>
                  <a:schemeClr val="bg1"/>
                </a:solidFill>
              </a:rPr>
              <a:t>画图：从入土到入门</a:t>
            </a:r>
            <a:endParaRPr lang="en-US" altLang="zh-CN" sz="3733" dirty="0">
              <a:solidFill>
                <a:schemeClr val="bg1"/>
              </a:solidFill>
            </a:endParaRPr>
          </a:p>
        </p:txBody>
      </p:sp>
      <p:pic>
        <p:nvPicPr>
          <p:cNvPr id="10" name="图片 1" descr="彩色校徽">
            <a:extLst>
              <a:ext uri="{FF2B5EF4-FFF2-40B4-BE49-F238E27FC236}">
                <a16:creationId xmlns:a16="http://schemas.microsoft.com/office/drawing/2014/main" id="{DB1A34CD-4F6C-454A-8E0B-9157F132382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619345" y="91350"/>
            <a:ext cx="444815" cy="463044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5C6C36B-B0B8-42DB-ADFE-D0870365BEF7}"/>
              </a:ext>
            </a:extLst>
          </p:cNvPr>
          <p:cNvCxnSpPr>
            <a:cxnSpLocks/>
          </p:cNvCxnSpPr>
          <p:nvPr/>
        </p:nvCxnSpPr>
        <p:spPr>
          <a:xfrm>
            <a:off x="2502685" y="4052471"/>
            <a:ext cx="891472" cy="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32189A1F-7390-4AFE-B7DA-F1DED4C802C5}"/>
              </a:ext>
            </a:extLst>
          </p:cNvPr>
          <p:cNvSpPr/>
          <p:nvPr/>
        </p:nvSpPr>
        <p:spPr>
          <a:xfrm>
            <a:off x="595088" y="6112660"/>
            <a:ext cx="14857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基本人物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443A53-794A-44D6-8AA5-D796959D434B}"/>
              </a:ext>
            </a:extLst>
          </p:cNvPr>
          <p:cNvSpPr/>
          <p:nvPr/>
        </p:nvSpPr>
        <p:spPr>
          <a:xfrm>
            <a:off x="5245189" y="6243289"/>
            <a:ext cx="14857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渐变色彩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97DE35-16B4-4471-AEB5-0922EB8B7BB5}"/>
              </a:ext>
            </a:extLst>
          </p:cNvPr>
          <p:cNvSpPr/>
          <p:nvPr/>
        </p:nvSpPr>
        <p:spPr>
          <a:xfrm>
            <a:off x="9368273" y="6243288"/>
            <a:ext cx="14857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交互变身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2DA967-5876-4E54-8F8A-D99294B12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9668" y="1643764"/>
            <a:ext cx="4074336" cy="44069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83BF4A-F47C-42B6-A93C-1C43C0BA36C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6" r="8771" b="4480"/>
          <a:stretch/>
        </p:blipFill>
        <p:spPr>
          <a:xfrm>
            <a:off x="4062685" y="1820894"/>
            <a:ext cx="3396499" cy="4209505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6265A50-7F35-4283-A2BE-E57438D593E2}"/>
              </a:ext>
            </a:extLst>
          </p:cNvPr>
          <p:cNvCxnSpPr>
            <a:cxnSpLocks/>
          </p:cNvCxnSpPr>
          <p:nvPr/>
        </p:nvCxnSpPr>
        <p:spPr>
          <a:xfrm>
            <a:off x="7604229" y="4052471"/>
            <a:ext cx="891472" cy="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3D3BB814-A527-417B-8527-7EA4517C16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5701" y="1820894"/>
            <a:ext cx="3433378" cy="420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95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8926" y="616620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1.1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基础人物绘制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A4716924-76A3-4AEF-8311-ACB8AA92C6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89" y="4057855"/>
            <a:ext cx="4269530" cy="461806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4724E93-23A1-423E-824B-732C9C0444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727" y="4240170"/>
            <a:ext cx="4269530" cy="4618063"/>
          </a:xfrm>
          <a:prstGeom prst="rect">
            <a:avLst/>
          </a:prstGeom>
        </p:spPr>
      </p:pic>
      <p:sp>
        <p:nvSpPr>
          <p:cNvPr id="55" name="文本框 93">
            <a:extLst>
              <a:ext uri="{FF2B5EF4-FFF2-40B4-BE49-F238E27FC236}">
                <a16:creationId xmlns:a16="http://schemas.microsoft.com/office/drawing/2014/main" id="{C3CF078F-B0BD-4BB0-9B02-3C608053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566" y="1327090"/>
            <a:ext cx="1033972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●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通过</a:t>
            </a:r>
            <a:r>
              <a:rPr lang="en-US" altLang="zh-CN" sz="3400" dirty="0" err="1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gl.drawArrays</a:t>
            </a:r>
            <a:r>
              <a:rPr lang="en-US" altLang="zh-CN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(mode, </a:t>
            </a:r>
            <a:r>
              <a:rPr lang="en-US" altLang="zh-CN" sz="3400" dirty="0" err="1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girst,count</a:t>
            </a:r>
            <a:r>
              <a:rPr lang="en-US" altLang="zh-CN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)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方法，绘制了三角形，矩形，圆形等基本图形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04B047A-6527-4289-8D3D-22F5A855D68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3"/>
          <a:stretch/>
        </p:blipFill>
        <p:spPr>
          <a:xfrm>
            <a:off x="872566" y="2434577"/>
            <a:ext cx="6534150" cy="1347774"/>
          </a:xfrm>
          <a:prstGeom prst="rect">
            <a:avLst/>
          </a:prstGeom>
        </p:spPr>
      </p:pic>
      <p:sp>
        <p:nvSpPr>
          <p:cNvPr id="60" name="文本框 93">
            <a:extLst>
              <a:ext uri="{FF2B5EF4-FFF2-40B4-BE49-F238E27FC236}">
                <a16:creationId xmlns:a16="http://schemas.microsoft.com/office/drawing/2014/main" id="{FAB7FEB6-C761-4A5A-B703-141961A78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321" y="3886858"/>
            <a:ext cx="1033972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●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根据绘制的先后顺序决定图层</a:t>
            </a:r>
          </a:p>
        </p:txBody>
      </p:sp>
    </p:spTree>
    <p:extLst>
      <p:ext uri="{BB962C8B-B14F-4D97-AF65-F5344CB8AC3E}">
        <p14:creationId xmlns:p14="http://schemas.microsoft.com/office/powerpoint/2010/main" val="279641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55" grpId="0"/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8926" y="616620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1.2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圆形的绘制</a:t>
            </a:r>
          </a:p>
        </p:txBody>
      </p:sp>
      <p:sp>
        <p:nvSpPr>
          <p:cNvPr id="55" name="文本框 93">
            <a:extLst>
              <a:ext uri="{FF2B5EF4-FFF2-40B4-BE49-F238E27FC236}">
                <a16:creationId xmlns:a16="http://schemas.microsoft.com/office/drawing/2014/main" id="{C3CF078F-B0BD-4BB0-9B02-3C608053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566" y="1327090"/>
            <a:ext cx="1033972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●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利用</a:t>
            </a:r>
            <a:r>
              <a:rPr lang="en-US" altLang="zh-CN" sz="3400" dirty="0" err="1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gl.TRIANGLE_FAN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进行圆形的绘制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22BCC3-6C34-4DA3-84A8-40DAB4E41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566" y="1896476"/>
            <a:ext cx="7027169" cy="44951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AC82DE7-A66A-4104-9332-8DA8FE30D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661" y="2279722"/>
            <a:ext cx="3808773" cy="41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4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8926" y="616620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1.2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圆形的绘制</a:t>
            </a:r>
          </a:p>
        </p:txBody>
      </p:sp>
      <p:sp>
        <p:nvSpPr>
          <p:cNvPr id="55" name="文本框 93">
            <a:extLst>
              <a:ext uri="{FF2B5EF4-FFF2-40B4-BE49-F238E27FC236}">
                <a16:creationId xmlns:a16="http://schemas.microsoft.com/office/drawing/2014/main" id="{C3CF078F-B0BD-4BB0-9B02-3C608053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566" y="1327090"/>
            <a:ext cx="1033972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●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利用</a:t>
            </a:r>
            <a:r>
              <a:rPr lang="en-US" altLang="zh-CN" sz="3400" dirty="0" err="1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gl.TRIANGLE_FAN</a:t>
            </a:r>
            <a:r>
              <a:rPr lang="zh-CN" altLang="en-US" sz="340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进行圆形的绘制</a:t>
            </a:r>
            <a:endParaRPr lang="zh-CN" altLang="en-US" sz="3400" dirty="0">
              <a:solidFill>
                <a:srgbClr val="E5A005"/>
              </a:solidFill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C82DE7-A66A-4104-9332-8DA8FE30D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661" y="2279722"/>
            <a:ext cx="3808773" cy="411969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3910A01-8B84-4CCB-8A32-478042391B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515" y="2084754"/>
            <a:ext cx="5387700" cy="355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32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8926" y="616620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1.2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圆形的绘制</a:t>
            </a:r>
          </a:p>
        </p:txBody>
      </p:sp>
      <p:sp>
        <p:nvSpPr>
          <p:cNvPr id="55" name="文本框 93">
            <a:extLst>
              <a:ext uri="{FF2B5EF4-FFF2-40B4-BE49-F238E27FC236}">
                <a16:creationId xmlns:a16="http://schemas.microsoft.com/office/drawing/2014/main" id="{C3CF078F-B0BD-4BB0-9B02-3C608053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566" y="1327090"/>
            <a:ext cx="1033972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●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不同参数对圆形的影响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A1159D-451D-491E-AC54-A400ACA16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925" y="400214"/>
            <a:ext cx="3514725" cy="28956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7BE9DF-7B4D-4712-B554-8BF87DDAEE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925" y="3376989"/>
            <a:ext cx="3514725" cy="29883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DBF78FB-1C4C-4933-B1CD-0661F32AEB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82" y="1876370"/>
            <a:ext cx="6693528" cy="4365010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7567D025-44A1-4E6F-B45C-F1F0049526C1}"/>
              </a:ext>
            </a:extLst>
          </p:cNvPr>
          <p:cNvSpPr/>
          <p:nvPr/>
        </p:nvSpPr>
        <p:spPr bwMode="auto">
          <a:xfrm>
            <a:off x="1099459" y="4675872"/>
            <a:ext cx="1785256" cy="478971"/>
          </a:xfrm>
          <a:prstGeom prst="ellipse">
            <a:avLst/>
          </a:prstGeom>
          <a:noFill/>
          <a:ln w="76200" cap="flat" cmpd="sng" algn="ctr">
            <a:solidFill>
              <a:srgbClr val="E5A005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154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8926" y="616620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1.2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圆形的绘制</a:t>
            </a:r>
          </a:p>
        </p:txBody>
      </p:sp>
      <p:sp>
        <p:nvSpPr>
          <p:cNvPr id="55" name="文本框 93">
            <a:extLst>
              <a:ext uri="{FF2B5EF4-FFF2-40B4-BE49-F238E27FC236}">
                <a16:creationId xmlns:a16="http://schemas.microsoft.com/office/drawing/2014/main" id="{C3CF078F-B0BD-4BB0-9B02-3C608053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566" y="1327090"/>
            <a:ext cx="1033972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●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不同参数对圆形的影响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B3330E-0E34-495F-97E5-CB30F1B66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0" y="1942643"/>
            <a:ext cx="6446211" cy="4343355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7567D025-44A1-4E6F-B45C-F1F0049526C1}"/>
              </a:ext>
            </a:extLst>
          </p:cNvPr>
          <p:cNvSpPr/>
          <p:nvPr/>
        </p:nvSpPr>
        <p:spPr bwMode="auto">
          <a:xfrm>
            <a:off x="1251350" y="1942643"/>
            <a:ext cx="2062996" cy="791297"/>
          </a:xfrm>
          <a:prstGeom prst="ellipse">
            <a:avLst/>
          </a:prstGeom>
          <a:noFill/>
          <a:ln w="76200" cap="flat" cmpd="sng" algn="ctr">
            <a:solidFill>
              <a:srgbClr val="E5A005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B19071F-61C7-4520-A70E-F7853335F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988" y="1634866"/>
            <a:ext cx="4976508" cy="42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4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8926" y="616620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1.2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圆形的绘制</a:t>
            </a:r>
          </a:p>
        </p:txBody>
      </p:sp>
      <p:sp>
        <p:nvSpPr>
          <p:cNvPr id="55" name="文本框 93">
            <a:extLst>
              <a:ext uri="{FF2B5EF4-FFF2-40B4-BE49-F238E27FC236}">
                <a16:creationId xmlns:a16="http://schemas.microsoft.com/office/drawing/2014/main" id="{C3CF078F-B0BD-4BB0-9B02-3C608053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566" y="1327090"/>
            <a:ext cx="1033972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●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不同参数对圆形的影响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C1AAD1-1EF0-4C84-AF87-A51D0C16A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565" y="1991393"/>
            <a:ext cx="6413679" cy="414170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25FCCD0-0ABB-4982-9068-C6E3ED570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805" y="1278340"/>
            <a:ext cx="5282224" cy="4558159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7567D025-44A1-4E6F-B45C-F1F0049526C1}"/>
              </a:ext>
            </a:extLst>
          </p:cNvPr>
          <p:cNvSpPr/>
          <p:nvPr/>
        </p:nvSpPr>
        <p:spPr bwMode="auto">
          <a:xfrm>
            <a:off x="1238032" y="2524254"/>
            <a:ext cx="1317679" cy="262883"/>
          </a:xfrm>
          <a:prstGeom prst="ellipse">
            <a:avLst/>
          </a:prstGeom>
          <a:noFill/>
          <a:ln w="76200" cap="flat" cmpd="sng" algn="ctr">
            <a:solidFill>
              <a:srgbClr val="E5A005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752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8926" y="616620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1.2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圆形的绘制</a:t>
            </a:r>
          </a:p>
        </p:txBody>
      </p:sp>
      <p:sp>
        <p:nvSpPr>
          <p:cNvPr id="55" name="文本框 93">
            <a:extLst>
              <a:ext uri="{FF2B5EF4-FFF2-40B4-BE49-F238E27FC236}">
                <a16:creationId xmlns:a16="http://schemas.microsoft.com/office/drawing/2014/main" id="{C3CF078F-B0BD-4BB0-9B02-3C608053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566" y="1327090"/>
            <a:ext cx="1033972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●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不同参数对圆形的影响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6C9F58-2F2A-44C3-934B-C2D779D9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525" y="1327090"/>
            <a:ext cx="4724154" cy="46108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2877557-4468-4D3D-A417-3D8FE6CE85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06" y="1942643"/>
            <a:ext cx="6163108" cy="4238880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7567D025-44A1-4E6F-B45C-F1F0049526C1}"/>
              </a:ext>
            </a:extLst>
          </p:cNvPr>
          <p:cNvSpPr/>
          <p:nvPr/>
        </p:nvSpPr>
        <p:spPr bwMode="auto">
          <a:xfrm>
            <a:off x="872566" y="2617617"/>
            <a:ext cx="1486526" cy="615553"/>
          </a:xfrm>
          <a:prstGeom prst="ellipse">
            <a:avLst/>
          </a:prstGeom>
          <a:noFill/>
          <a:ln w="76200" cap="flat" cmpd="sng" algn="ctr">
            <a:solidFill>
              <a:srgbClr val="E5A005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17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8926" y="616620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1.2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圆形的绘制</a:t>
            </a:r>
          </a:p>
        </p:txBody>
      </p:sp>
      <p:sp>
        <p:nvSpPr>
          <p:cNvPr id="55" name="文本框 93">
            <a:extLst>
              <a:ext uri="{FF2B5EF4-FFF2-40B4-BE49-F238E27FC236}">
                <a16:creationId xmlns:a16="http://schemas.microsoft.com/office/drawing/2014/main" id="{C3CF078F-B0BD-4BB0-9B02-3C608053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566" y="1327090"/>
            <a:ext cx="1033972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●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不同参数对圆形的影响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2510E48-C06E-43ED-8BC5-61848411AC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29" t="9864" r="54895" b="28326"/>
          <a:stretch/>
        </p:blipFill>
        <p:spPr>
          <a:xfrm>
            <a:off x="6796444" y="1327090"/>
            <a:ext cx="5020182" cy="423888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7629265-B510-46A0-A414-5072CB7FB9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596" t="17143" r="27500" b="22698"/>
          <a:stretch/>
        </p:blipFill>
        <p:spPr>
          <a:xfrm>
            <a:off x="524018" y="1845806"/>
            <a:ext cx="6328080" cy="4125687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7567D025-44A1-4E6F-B45C-F1F0049526C1}"/>
              </a:ext>
            </a:extLst>
          </p:cNvPr>
          <p:cNvSpPr/>
          <p:nvPr/>
        </p:nvSpPr>
        <p:spPr bwMode="auto">
          <a:xfrm>
            <a:off x="4012627" y="5530910"/>
            <a:ext cx="1486526" cy="615553"/>
          </a:xfrm>
          <a:prstGeom prst="ellipse">
            <a:avLst/>
          </a:prstGeom>
          <a:noFill/>
          <a:ln w="76200" cap="flat" cmpd="sng" algn="ctr">
            <a:solidFill>
              <a:srgbClr val="E5A005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791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8926" y="616620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1.3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交互变身</a:t>
            </a:r>
          </a:p>
        </p:txBody>
      </p:sp>
      <p:sp>
        <p:nvSpPr>
          <p:cNvPr id="55" name="文本框 93">
            <a:extLst>
              <a:ext uri="{FF2B5EF4-FFF2-40B4-BE49-F238E27FC236}">
                <a16:creationId xmlns:a16="http://schemas.microsoft.com/office/drawing/2014/main" id="{C3CF078F-B0BD-4BB0-9B02-3C608053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566" y="1327090"/>
            <a:ext cx="10339720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●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调用</a:t>
            </a:r>
            <a:r>
              <a:rPr lang="en-US" altLang="zh-CN" sz="3400" dirty="0" err="1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canvas.onmousedown</a:t>
            </a:r>
            <a:r>
              <a:rPr lang="en-US" altLang="zh-CN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 = function(event) {} 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封装鼠标触发函数，实现</a:t>
            </a:r>
            <a:r>
              <a:rPr lang="en-US" altLang="zh-CN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Steve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变身。</a:t>
            </a:r>
            <a:b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</a:br>
            <a:endParaRPr lang="zh-CN" altLang="en-US" sz="3400" dirty="0">
              <a:solidFill>
                <a:srgbClr val="E5A005"/>
              </a:solidFill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DD8DDB-D785-425A-BDCA-3F0DC9402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833" y="2584629"/>
            <a:ext cx="3655891" cy="39543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9FEAA8-6DBF-4BEC-A542-80759BD7B0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913" y="2774939"/>
            <a:ext cx="2914807" cy="357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1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8926" y="616620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1.3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交互变身</a:t>
            </a:r>
          </a:p>
        </p:txBody>
      </p:sp>
      <p:sp>
        <p:nvSpPr>
          <p:cNvPr id="55" name="文本框 93">
            <a:extLst>
              <a:ext uri="{FF2B5EF4-FFF2-40B4-BE49-F238E27FC236}">
                <a16:creationId xmlns:a16="http://schemas.microsoft.com/office/drawing/2014/main" id="{C3CF078F-B0BD-4BB0-9B02-3C608053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566" y="1327090"/>
            <a:ext cx="1033972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●</a:t>
            </a:r>
            <a:r>
              <a:rPr lang="zh-CN" altLang="en-US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绘制</a:t>
            </a:r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button</a:t>
            </a:r>
            <a:r>
              <a:rPr lang="zh-CN" altLang="en-US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，设计</a:t>
            </a:r>
            <a:r>
              <a:rPr lang="en-US" altLang="zh-CN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onclick</a:t>
            </a:r>
            <a:r>
              <a:rPr lang="zh-CN" altLang="en-US" sz="34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（）函数，进行装备的绘制</a:t>
            </a:r>
            <a: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。</a:t>
            </a:r>
            <a:br>
              <a:rPr lang="zh-CN" altLang="en-US" sz="34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</a:br>
            <a:endParaRPr lang="zh-CN" altLang="en-US" sz="3400" dirty="0">
              <a:solidFill>
                <a:srgbClr val="E5A005"/>
              </a:solidFill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DD8DDB-D785-425A-BDCA-3F0DC9402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86" y="2479008"/>
            <a:ext cx="3655891" cy="395433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7AB5456-8581-4879-87A2-5F7BD7CAC5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992" r="53750" b="6825"/>
          <a:stretch/>
        </p:blipFill>
        <p:spPr>
          <a:xfrm>
            <a:off x="6581667" y="2391770"/>
            <a:ext cx="4032620" cy="412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4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5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93">
            <a:extLst>
              <a:ext uri="{FF2B5EF4-FFF2-40B4-BE49-F238E27FC236}">
                <a16:creationId xmlns:a16="http://schemas.microsoft.com/office/drawing/2014/main" id="{816FFDEE-36CF-4143-9672-A21971A9F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1960" y="2921168"/>
            <a:ext cx="632807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60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二、由入门到探索</a:t>
            </a:r>
            <a:endParaRPr lang="en-US" altLang="zh-CN" sz="6000" b="1" dirty="0">
              <a:solidFill>
                <a:schemeClr val="bg1"/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29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93">
            <a:extLst>
              <a:ext uri="{FF2B5EF4-FFF2-40B4-BE49-F238E27FC236}">
                <a16:creationId xmlns:a16="http://schemas.microsoft.com/office/drawing/2014/main" id="{5F514A5E-516B-424B-BCFB-A37BF13F4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662" y="178380"/>
            <a:ext cx="6328079" cy="1585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97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代码冗余！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1AB73C7C-7CFF-4C7A-A6EB-167CF82D3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76" y="1589313"/>
            <a:ext cx="7655509" cy="4043043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7CCB4C2A-4328-44CC-AD19-1DB901A19F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377" y="2357699"/>
            <a:ext cx="7192690" cy="48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704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93">
            <a:extLst>
              <a:ext uri="{FF2B5EF4-FFF2-40B4-BE49-F238E27FC236}">
                <a16:creationId xmlns:a16="http://schemas.microsoft.com/office/drawing/2014/main" id="{5F514A5E-516B-424B-BCFB-A37BF13F4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1960" y="-148191"/>
            <a:ext cx="6328079" cy="1585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Steve 2.0</a:t>
            </a:r>
            <a:endParaRPr lang="zh-CN" altLang="en-US" sz="9700" b="1" dirty="0">
              <a:solidFill>
                <a:schemeClr val="bg1"/>
              </a:solidFill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5" name="文本框 93">
            <a:extLst>
              <a:ext uri="{FF2B5EF4-FFF2-40B4-BE49-F238E27FC236}">
                <a16:creationId xmlns:a16="http://schemas.microsoft.com/office/drawing/2014/main" id="{1F6849D5-5231-4A15-B33A-FB76CF283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2846" y="3439829"/>
            <a:ext cx="6328079" cy="1123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67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函数封装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2750A2-0ACC-44F9-9870-8C9130C5D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1" y="5760616"/>
            <a:ext cx="6617585" cy="10146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BCD97F6-EE9E-4226-8590-8D56087B35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775" t="10635" r="27321" b="13810"/>
          <a:stretch/>
        </p:blipFill>
        <p:spPr>
          <a:xfrm>
            <a:off x="212382" y="1202137"/>
            <a:ext cx="5439155" cy="445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35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93">
            <a:extLst>
              <a:ext uri="{FF2B5EF4-FFF2-40B4-BE49-F238E27FC236}">
                <a16:creationId xmlns:a16="http://schemas.microsoft.com/office/drawing/2014/main" id="{5F514A5E-516B-424B-BCFB-A37BF13F4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662" y="2636475"/>
            <a:ext cx="8846109" cy="1585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97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三、未来展望</a:t>
            </a:r>
          </a:p>
        </p:txBody>
      </p:sp>
    </p:spTree>
    <p:extLst>
      <p:ext uri="{BB962C8B-B14F-4D97-AF65-F5344CB8AC3E}">
        <p14:creationId xmlns:p14="http://schemas.microsoft.com/office/powerpoint/2010/main" val="198058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212902" y="329281"/>
            <a:ext cx="11674297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1268AA2D-7DB3-4DA9-B416-C6CE3A8CA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664" y="870879"/>
            <a:ext cx="4074336" cy="4406935"/>
          </a:xfrm>
          <a:prstGeom prst="rect">
            <a:avLst/>
          </a:prstGeom>
        </p:spPr>
      </p:pic>
      <p:sp>
        <p:nvSpPr>
          <p:cNvPr id="35" name="文本框 93">
            <a:extLst>
              <a:ext uri="{FF2B5EF4-FFF2-40B4-BE49-F238E27FC236}">
                <a16:creationId xmlns:a16="http://schemas.microsoft.com/office/drawing/2014/main" id="{E4193A11-F4AE-4AB5-975F-22D6B1C54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902" y="787661"/>
            <a:ext cx="8846109" cy="1585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00" b="1" dirty="0" err="1">
                <a:solidFill>
                  <a:srgbClr val="0066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Webgl</a:t>
            </a:r>
            <a:r>
              <a:rPr lang="zh-CN" altLang="en-US" sz="9700" b="1" dirty="0">
                <a:solidFill>
                  <a:srgbClr val="0066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动画？</a:t>
            </a:r>
          </a:p>
        </p:txBody>
      </p:sp>
      <p:sp>
        <p:nvSpPr>
          <p:cNvPr id="36" name="文本框 93">
            <a:extLst>
              <a:ext uri="{FF2B5EF4-FFF2-40B4-BE49-F238E27FC236}">
                <a16:creationId xmlns:a16="http://schemas.microsoft.com/office/drawing/2014/main" id="{19A86565-9ADB-4546-B1C7-4B55AD238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1" y="3822319"/>
            <a:ext cx="8846109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7700" b="1" dirty="0">
                <a:solidFill>
                  <a:srgbClr val="0066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让</a:t>
            </a:r>
            <a:r>
              <a:rPr lang="en-US" altLang="zh-CN" sz="7700" b="1" dirty="0">
                <a:solidFill>
                  <a:srgbClr val="0066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Steve</a:t>
            </a:r>
            <a:r>
              <a:rPr lang="zh-CN" altLang="en-US" sz="7700" b="1" dirty="0">
                <a:solidFill>
                  <a:srgbClr val="0066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动起来！</a:t>
            </a:r>
          </a:p>
        </p:txBody>
      </p:sp>
    </p:spTree>
    <p:extLst>
      <p:ext uri="{BB962C8B-B14F-4D97-AF65-F5344CB8AC3E}">
        <p14:creationId xmlns:p14="http://schemas.microsoft.com/office/powerpoint/2010/main" val="99505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35" grpId="0"/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8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28"/>
          <p:cNvGrpSpPr>
            <a:grpSpLocks/>
          </p:cNvGrpSpPr>
          <p:nvPr/>
        </p:nvGrpSpPr>
        <p:grpSpPr bwMode="auto">
          <a:xfrm>
            <a:off x="5308600" y="5815013"/>
            <a:ext cx="1266825" cy="901700"/>
            <a:chOff x="0" y="0"/>
            <a:chExt cx="2756082" cy="1960460"/>
          </a:xfrm>
        </p:grpSpPr>
        <p:grpSp>
          <p:nvGrpSpPr>
            <p:cNvPr id="9263" name="组合 29"/>
            <p:cNvGrpSpPr>
              <a:grpSpLocks/>
            </p:cNvGrpSpPr>
            <p:nvPr/>
          </p:nvGrpSpPr>
          <p:grpSpPr bwMode="auto">
            <a:xfrm>
              <a:off x="1378042" y="1"/>
              <a:ext cx="1378040" cy="1960459"/>
              <a:chOff x="0" y="0"/>
              <a:chExt cx="1378040" cy="1960459"/>
            </a:xfrm>
          </p:grpSpPr>
          <p:sp>
            <p:nvSpPr>
              <p:cNvPr id="9269" name="直角三角形 35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A8D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70" name="组合 36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71" name="直角三角形 37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72" name="等腰三角形 38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9264" name="组合 30"/>
            <p:cNvGrpSpPr>
              <a:grpSpLocks/>
            </p:cNvGrpSpPr>
            <p:nvPr/>
          </p:nvGrpSpPr>
          <p:grpSpPr bwMode="auto">
            <a:xfrm flipH="1">
              <a:off x="0" y="0"/>
              <a:ext cx="1378040" cy="1960459"/>
              <a:chOff x="0" y="0"/>
              <a:chExt cx="1378040" cy="1960459"/>
            </a:xfrm>
          </p:grpSpPr>
          <p:sp>
            <p:nvSpPr>
              <p:cNvPr id="9265" name="直角三角形 31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C4E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66" name="组合 32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67" name="直角三角形 33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68" name="等腰三角形 34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grpSp>
        <p:nvGrpSpPr>
          <p:cNvPr id="9219" name="组合 17"/>
          <p:cNvGrpSpPr>
            <a:grpSpLocks/>
          </p:cNvGrpSpPr>
          <p:nvPr/>
        </p:nvGrpSpPr>
        <p:grpSpPr bwMode="auto">
          <a:xfrm>
            <a:off x="6097588" y="5995988"/>
            <a:ext cx="1004887" cy="714375"/>
            <a:chOff x="0" y="0"/>
            <a:chExt cx="2756082" cy="1960460"/>
          </a:xfrm>
        </p:grpSpPr>
        <p:grpSp>
          <p:nvGrpSpPr>
            <p:cNvPr id="9253" name="组合 18"/>
            <p:cNvGrpSpPr>
              <a:grpSpLocks/>
            </p:cNvGrpSpPr>
            <p:nvPr/>
          </p:nvGrpSpPr>
          <p:grpSpPr bwMode="auto">
            <a:xfrm>
              <a:off x="1378042" y="1"/>
              <a:ext cx="1378040" cy="1960459"/>
              <a:chOff x="0" y="0"/>
              <a:chExt cx="1378040" cy="1960459"/>
            </a:xfrm>
          </p:grpSpPr>
          <p:sp>
            <p:nvSpPr>
              <p:cNvPr id="9259" name="直角三角形 24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A8D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60" name="组合 25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61" name="直角三角形 26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62" name="等腰三角形 27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9254" name="组合 19"/>
            <p:cNvGrpSpPr>
              <a:grpSpLocks/>
            </p:cNvGrpSpPr>
            <p:nvPr/>
          </p:nvGrpSpPr>
          <p:grpSpPr bwMode="auto">
            <a:xfrm flipH="1">
              <a:off x="0" y="0"/>
              <a:ext cx="1378040" cy="1960459"/>
              <a:chOff x="0" y="0"/>
              <a:chExt cx="1378040" cy="1960459"/>
            </a:xfrm>
          </p:grpSpPr>
          <p:sp>
            <p:nvSpPr>
              <p:cNvPr id="9255" name="直角三角形 20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C4E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56" name="组合 21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57" name="直角三角形 22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58" name="等腰三角形 23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grpSp>
        <p:nvGrpSpPr>
          <p:cNvPr id="9220" name="组合 16"/>
          <p:cNvGrpSpPr>
            <a:grpSpLocks/>
          </p:cNvGrpSpPr>
          <p:nvPr/>
        </p:nvGrpSpPr>
        <p:grpSpPr bwMode="auto">
          <a:xfrm>
            <a:off x="2854325" y="5370513"/>
            <a:ext cx="1004888" cy="714375"/>
            <a:chOff x="0" y="0"/>
            <a:chExt cx="2756082" cy="1960460"/>
          </a:xfrm>
        </p:grpSpPr>
        <p:grpSp>
          <p:nvGrpSpPr>
            <p:cNvPr id="9243" name="组合 9"/>
            <p:cNvGrpSpPr>
              <a:grpSpLocks/>
            </p:cNvGrpSpPr>
            <p:nvPr/>
          </p:nvGrpSpPr>
          <p:grpSpPr bwMode="auto">
            <a:xfrm>
              <a:off x="1378042" y="1"/>
              <a:ext cx="1378040" cy="1960459"/>
              <a:chOff x="0" y="0"/>
              <a:chExt cx="1378040" cy="1960459"/>
            </a:xfrm>
          </p:grpSpPr>
          <p:sp>
            <p:nvSpPr>
              <p:cNvPr id="9249" name="直角三角形 4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A8D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50" name="组合 8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51" name="直角三角形 7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52" name="等腰三角形 5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9244" name="组合 10"/>
            <p:cNvGrpSpPr>
              <a:grpSpLocks/>
            </p:cNvGrpSpPr>
            <p:nvPr/>
          </p:nvGrpSpPr>
          <p:grpSpPr bwMode="auto">
            <a:xfrm flipH="1">
              <a:off x="0" y="0"/>
              <a:ext cx="1378040" cy="1960459"/>
              <a:chOff x="0" y="0"/>
              <a:chExt cx="1378040" cy="1960459"/>
            </a:xfrm>
          </p:grpSpPr>
          <p:sp>
            <p:nvSpPr>
              <p:cNvPr id="9245" name="直角三角形 11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C4E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46" name="组合 12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47" name="直角三角形 13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48" name="等腰三角形 14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sp>
        <p:nvSpPr>
          <p:cNvPr id="9221" name="任意多边形 6"/>
          <p:cNvSpPr>
            <a:spLocks noChangeArrowheads="1"/>
          </p:cNvSpPr>
          <p:nvPr/>
        </p:nvSpPr>
        <p:spPr bwMode="auto">
          <a:xfrm>
            <a:off x="922338" y="5851525"/>
            <a:ext cx="10426700" cy="1006475"/>
          </a:xfrm>
          <a:custGeom>
            <a:avLst/>
            <a:gdLst>
              <a:gd name="T0" fmla="*/ 2073889 w 10426677"/>
              <a:gd name="T1" fmla="*/ 250 h 1006088"/>
              <a:gd name="T2" fmla="*/ 5154721 w 10426677"/>
              <a:gd name="T3" fmla="*/ 717979 h 1006088"/>
              <a:gd name="T4" fmla="*/ 8235552 w 10426677"/>
              <a:gd name="T5" fmla="*/ 295785 h 1006088"/>
              <a:gd name="T6" fmla="*/ 10366620 w 10426677"/>
              <a:gd name="T7" fmla="*/ 946465 h 1006088"/>
              <a:gd name="T8" fmla="*/ 10426700 w 10426677"/>
              <a:gd name="T9" fmla="*/ 1006475 h 1006088"/>
              <a:gd name="T10" fmla="*/ 5066 w 10426677"/>
              <a:gd name="T11" fmla="*/ 1006475 h 1006088"/>
              <a:gd name="T12" fmla="*/ 0 w 10426677"/>
              <a:gd name="T13" fmla="*/ 934681 h 1006088"/>
              <a:gd name="T14" fmla="*/ 2073889 w 10426677"/>
              <a:gd name="T15" fmla="*/ 250 h 10060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426677"/>
              <a:gd name="T25" fmla="*/ 0 h 1006088"/>
              <a:gd name="T26" fmla="*/ 10426677 w 10426677"/>
              <a:gd name="T27" fmla="*/ 1006088 h 10060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426677" h="1006088">
                <a:moveTo>
                  <a:pt x="2073884" y="250"/>
                </a:moveTo>
                <a:cubicBezTo>
                  <a:pt x="2964838" y="19007"/>
                  <a:pt x="4127768" y="668466"/>
                  <a:pt x="5154710" y="717703"/>
                </a:cubicBezTo>
                <a:cubicBezTo>
                  <a:pt x="6181652" y="766940"/>
                  <a:pt x="7410230" y="215954"/>
                  <a:pt x="8235534" y="295671"/>
                </a:cubicBezTo>
                <a:cubicBezTo>
                  <a:pt x="8802931" y="350477"/>
                  <a:pt x="10037462" y="694521"/>
                  <a:pt x="10366597" y="946101"/>
                </a:cubicBezTo>
                <a:lnTo>
                  <a:pt x="10426677" y="1006088"/>
                </a:lnTo>
                <a:lnTo>
                  <a:pt x="5066" y="1006088"/>
                </a:lnTo>
                <a:lnTo>
                  <a:pt x="0" y="934322"/>
                </a:lnTo>
                <a:cubicBezTo>
                  <a:pt x="83306" y="569552"/>
                  <a:pt x="1405669" y="-13818"/>
                  <a:pt x="2073884" y="250"/>
                </a:cubicBezTo>
                <a:close/>
              </a:path>
            </a:pathLst>
          </a:custGeom>
          <a:solidFill>
            <a:srgbClr val="F8E13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9222" name="组合 69"/>
          <p:cNvGrpSpPr>
            <a:grpSpLocks/>
          </p:cNvGrpSpPr>
          <p:nvPr/>
        </p:nvGrpSpPr>
        <p:grpSpPr bwMode="auto">
          <a:xfrm>
            <a:off x="4360862" y="3008313"/>
            <a:ext cx="3470275" cy="798512"/>
            <a:chOff x="0" y="0"/>
            <a:chExt cx="3471766" cy="797568"/>
          </a:xfrm>
        </p:grpSpPr>
        <p:sp>
          <p:nvSpPr>
            <p:cNvPr id="9241" name="圆角矩形 1"/>
            <p:cNvSpPr>
              <a:spLocks noChangeArrowheads="1"/>
            </p:cNvSpPr>
            <p:nvPr/>
          </p:nvSpPr>
          <p:spPr bwMode="auto">
            <a:xfrm>
              <a:off x="0" y="0"/>
              <a:ext cx="3471766" cy="797568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42" name="文本框 2"/>
            <p:cNvSpPr>
              <a:spLocks noChangeArrowheads="1"/>
            </p:cNvSpPr>
            <p:nvPr/>
          </p:nvSpPr>
          <p:spPr bwMode="auto">
            <a:xfrm>
              <a:off x="540684" y="44841"/>
              <a:ext cx="239039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4000" dirty="0">
                  <a:solidFill>
                    <a:schemeClr val="bg1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rPr>
                <a:t>谢谢观看</a:t>
              </a:r>
            </a:p>
          </p:txBody>
        </p:sp>
      </p:grpSp>
      <p:grpSp>
        <p:nvGrpSpPr>
          <p:cNvPr id="9223" name="组合 39"/>
          <p:cNvGrpSpPr>
            <a:grpSpLocks/>
          </p:cNvGrpSpPr>
          <p:nvPr/>
        </p:nvGrpSpPr>
        <p:grpSpPr bwMode="auto">
          <a:xfrm>
            <a:off x="2335213" y="5416550"/>
            <a:ext cx="604837" cy="539750"/>
            <a:chOff x="0" y="0"/>
            <a:chExt cx="2332712" cy="2083631"/>
          </a:xfrm>
        </p:grpSpPr>
        <p:sp>
          <p:nvSpPr>
            <p:cNvPr id="9236" name="等腰三角形 40"/>
            <p:cNvSpPr>
              <a:spLocks noChangeArrowheads="1"/>
            </p:cNvSpPr>
            <p:nvPr/>
          </p:nvSpPr>
          <p:spPr bwMode="auto">
            <a:xfrm>
              <a:off x="267324" y="0"/>
              <a:ext cx="1409076" cy="704538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7" name="等腰三角形 41"/>
            <p:cNvSpPr>
              <a:spLocks noChangeArrowheads="1"/>
            </p:cNvSpPr>
            <p:nvPr/>
          </p:nvSpPr>
          <p:spPr bwMode="auto">
            <a:xfrm>
              <a:off x="0" y="632085"/>
              <a:ext cx="1913745" cy="95687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8" name="等腰三角形 42"/>
            <p:cNvSpPr>
              <a:spLocks noChangeArrowheads="1"/>
            </p:cNvSpPr>
            <p:nvPr/>
          </p:nvSpPr>
          <p:spPr bwMode="auto">
            <a:xfrm>
              <a:off x="59959" y="272317"/>
              <a:ext cx="1793827" cy="89691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9" name="闪电形 43"/>
            <p:cNvSpPr>
              <a:spLocks noChangeArrowheads="1"/>
            </p:cNvSpPr>
            <p:nvPr/>
          </p:nvSpPr>
          <p:spPr bwMode="auto">
            <a:xfrm rot="-9511937">
              <a:off x="720285" y="279422"/>
              <a:ext cx="1612427" cy="1314924"/>
            </a:xfrm>
            <a:prstGeom prst="lightningBolt">
              <a:avLst/>
            </a:prstGeom>
            <a:solidFill>
              <a:srgbClr val="BF9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40" name="矩形 44"/>
            <p:cNvSpPr>
              <a:spLocks noChangeArrowheads="1"/>
            </p:cNvSpPr>
            <p:nvPr/>
          </p:nvSpPr>
          <p:spPr bwMode="auto">
            <a:xfrm>
              <a:off x="762001" y="1588956"/>
              <a:ext cx="479685" cy="494675"/>
            </a:xfrm>
            <a:prstGeom prst="rect">
              <a:avLst/>
            </a:prstGeom>
            <a:solidFill>
              <a:srgbClr val="874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grpSp>
        <p:nvGrpSpPr>
          <p:cNvPr id="9224" name="组合 45"/>
          <p:cNvGrpSpPr>
            <a:grpSpLocks/>
          </p:cNvGrpSpPr>
          <p:nvPr/>
        </p:nvGrpSpPr>
        <p:grpSpPr bwMode="auto">
          <a:xfrm>
            <a:off x="6915150" y="5807075"/>
            <a:ext cx="603250" cy="744538"/>
            <a:chOff x="0" y="0"/>
            <a:chExt cx="2332712" cy="2083631"/>
          </a:xfrm>
        </p:grpSpPr>
        <p:sp>
          <p:nvSpPr>
            <p:cNvPr id="9231" name="等腰三角形 46"/>
            <p:cNvSpPr>
              <a:spLocks noChangeArrowheads="1"/>
            </p:cNvSpPr>
            <p:nvPr/>
          </p:nvSpPr>
          <p:spPr bwMode="auto">
            <a:xfrm>
              <a:off x="267324" y="0"/>
              <a:ext cx="1409076" cy="704538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2" name="等腰三角形 47"/>
            <p:cNvSpPr>
              <a:spLocks noChangeArrowheads="1"/>
            </p:cNvSpPr>
            <p:nvPr/>
          </p:nvSpPr>
          <p:spPr bwMode="auto">
            <a:xfrm>
              <a:off x="0" y="632085"/>
              <a:ext cx="1913745" cy="95687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3" name="等腰三角形 48"/>
            <p:cNvSpPr>
              <a:spLocks noChangeArrowheads="1"/>
            </p:cNvSpPr>
            <p:nvPr/>
          </p:nvSpPr>
          <p:spPr bwMode="auto">
            <a:xfrm>
              <a:off x="59959" y="272317"/>
              <a:ext cx="1793827" cy="89691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4" name="闪电形 49"/>
            <p:cNvSpPr>
              <a:spLocks noChangeArrowheads="1"/>
            </p:cNvSpPr>
            <p:nvPr/>
          </p:nvSpPr>
          <p:spPr bwMode="auto">
            <a:xfrm rot="-9511937">
              <a:off x="720285" y="279422"/>
              <a:ext cx="1612427" cy="1314924"/>
            </a:xfrm>
            <a:prstGeom prst="lightningBolt">
              <a:avLst/>
            </a:prstGeom>
            <a:solidFill>
              <a:srgbClr val="BF9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5" name="矩形 50"/>
            <p:cNvSpPr>
              <a:spLocks noChangeArrowheads="1"/>
            </p:cNvSpPr>
            <p:nvPr/>
          </p:nvSpPr>
          <p:spPr bwMode="auto">
            <a:xfrm>
              <a:off x="893089" y="1588956"/>
              <a:ext cx="265923" cy="494675"/>
            </a:xfrm>
            <a:prstGeom prst="rect">
              <a:avLst/>
            </a:prstGeom>
            <a:solidFill>
              <a:srgbClr val="874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9225" name="任意多边形 62"/>
          <p:cNvSpPr>
            <a:spLocks noChangeArrowheads="1"/>
          </p:cNvSpPr>
          <p:nvPr/>
        </p:nvSpPr>
        <p:spPr bwMode="auto">
          <a:xfrm>
            <a:off x="1616075" y="1050925"/>
            <a:ext cx="1557338" cy="911225"/>
          </a:xfrm>
          <a:custGeom>
            <a:avLst/>
            <a:gdLst>
              <a:gd name="T0" fmla="*/ 742326 w 2295707"/>
              <a:gd name="T1" fmla="*/ 0 h 1345310"/>
              <a:gd name="T2" fmla="*/ 1042093 w 2295707"/>
              <a:gd name="T3" fmla="*/ 226191 h 1345310"/>
              <a:gd name="T4" fmla="*/ 1046744 w 2295707"/>
              <a:gd name="T5" fmla="*/ 268904 h 1345310"/>
              <a:gd name="T6" fmla="*/ 1055049 w 2295707"/>
              <a:gd name="T7" fmla="*/ 264918 h 1345310"/>
              <a:gd name="T8" fmla="*/ 1124579 w 2295707"/>
              <a:gd name="T9" fmla="*/ 254422 h 1345310"/>
              <a:gd name="T10" fmla="*/ 1353645 w 2295707"/>
              <a:gd name="T11" fmla="*/ 440832 h 1345310"/>
              <a:gd name="T12" fmla="*/ 1355822 w 2295707"/>
              <a:gd name="T13" fmla="*/ 462384 h 1345310"/>
              <a:gd name="T14" fmla="*/ 1376887 w 2295707"/>
              <a:gd name="T15" fmla="*/ 464504 h 1345310"/>
              <a:gd name="T16" fmla="*/ 1557338 w 2295707"/>
              <a:gd name="T17" fmla="*/ 685572 h 1345310"/>
              <a:gd name="T18" fmla="*/ 1331341 w 2295707"/>
              <a:gd name="T19" fmla="*/ 911225 h 1345310"/>
              <a:gd name="T20" fmla="*/ 225997 w 2295707"/>
              <a:gd name="T21" fmla="*/ 911225 h 1345310"/>
              <a:gd name="T22" fmla="*/ 0 w 2295707"/>
              <a:gd name="T23" fmla="*/ 685572 h 1345310"/>
              <a:gd name="T24" fmla="*/ 225997 w 2295707"/>
              <a:gd name="T25" fmla="*/ 459920 h 1345310"/>
              <a:gd name="T26" fmla="*/ 320112 w 2295707"/>
              <a:gd name="T27" fmla="*/ 459920 h 1345310"/>
              <a:gd name="T28" fmla="*/ 313688 w 2295707"/>
              <a:gd name="T29" fmla="*/ 450405 h 1345310"/>
              <a:gd name="T30" fmla="*/ 304952 w 2295707"/>
              <a:gd name="T31" fmla="*/ 407203 h 1345310"/>
              <a:gd name="T32" fmla="*/ 313688 w 2295707"/>
              <a:gd name="T33" fmla="*/ 364000 h 1345310"/>
              <a:gd name="T34" fmla="*/ 416113 w 2295707"/>
              <a:gd name="T35" fmla="*/ 296212 h 1345310"/>
              <a:gd name="T36" fmla="*/ 437751 w 2295707"/>
              <a:gd name="T37" fmla="*/ 296212 h 1345310"/>
              <a:gd name="T38" fmla="*/ 436343 w 2295707"/>
              <a:gd name="T39" fmla="*/ 283282 h 1345310"/>
              <a:gd name="T40" fmla="*/ 742326 w 2295707"/>
              <a:gd name="T41" fmla="*/ 0 h 13453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95707"/>
              <a:gd name="T64" fmla="*/ 0 h 1345310"/>
              <a:gd name="T65" fmla="*/ 2295707 w 2295707"/>
              <a:gd name="T66" fmla="*/ 1345310 h 13453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95707" h="1345310">
                <a:moveTo>
                  <a:pt x="1094280" y="0"/>
                </a:moveTo>
                <a:cubicBezTo>
                  <a:pt x="1312253" y="0"/>
                  <a:pt x="1494114" y="143362"/>
                  <a:pt x="1536173" y="333943"/>
                </a:cubicBezTo>
                <a:lnTo>
                  <a:pt x="1543029" y="397003"/>
                </a:lnTo>
                <a:lnTo>
                  <a:pt x="1555271" y="391118"/>
                </a:lnTo>
                <a:cubicBezTo>
                  <a:pt x="1587649" y="381047"/>
                  <a:pt x="1622075" y="375622"/>
                  <a:pt x="1657767" y="375622"/>
                </a:cubicBezTo>
                <a:cubicBezTo>
                  <a:pt x="1824331" y="375622"/>
                  <a:pt x="1963300" y="493771"/>
                  <a:pt x="1995439" y="650834"/>
                </a:cubicBezTo>
                <a:lnTo>
                  <a:pt x="1998647" y="682652"/>
                </a:lnTo>
                <a:lnTo>
                  <a:pt x="2029700" y="685782"/>
                </a:lnTo>
                <a:cubicBezTo>
                  <a:pt x="2181510" y="716847"/>
                  <a:pt x="2295707" y="851168"/>
                  <a:pt x="2295707" y="1012162"/>
                </a:cubicBezTo>
                <a:cubicBezTo>
                  <a:pt x="2295707" y="1196155"/>
                  <a:pt x="2146552" y="1345310"/>
                  <a:pt x="1962559" y="1345310"/>
                </a:cubicBezTo>
                <a:lnTo>
                  <a:pt x="333148" y="1345310"/>
                </a:lnTo>
                <a:cubicBezTo>
                  <a:pt x="149155" y="1345310"/>
                  <a:pt x="0" y="1196155"/>
                  <a:pt x="0" y="1012162"/>
                </a:cubicBezTo>
                <a:cubicBezTo>
                  <a:pt x="0" y="828169"/>
                  <a:pt x="149155" y="679014"/>
                  <a:pt x="333148" y="679014"/>
                </a:cubicBezTo>
                <a:lnTo>
                  <a:pt x="471885" y="679014"/>
                </a:lnTo>
                <a:lnTo>
                  <a:pt x="462414" y="664967"/>
                </a:lnTo>
                <a:lnTo>
                  <a:pt x="449537" y="601184"/>
                </a:lnTo>
                <a:lnTo>
                  <a:pt x="462414" y="537401"/>
                </a:lnTo>
                <a:cubicBezTo>
                  <a:pt x="487290" y="478587"/>
                  <a:pt x="545526" y="437320"/>
                  <a:pt x="613401" y="437320"/>
                </a:cubicBezTo>
                <a:lnTo>
                  <a:pt x="645298" y="437320"/>
                </a:lnTo>
                <a:lnTo>
                  <a:pt x="643223" y="418231"/>
                </a:lnTo>
                <a:cubicBezTo>
                  <a:pt x="643223" y="187248"/>
                  <a:pt x="845168" y="0"/>
                  <a:pt x="1094280" y="0"/>
                </a:cubicBezTo>
                <a:close/>
              </a:path>
            </a:pathLst>
          </a:custGeom>
          <a:solidFill>
            <a:srgbClr val="FFFFFF">
              <a:alpha val="3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9226" name="任意多边形 65"/>
          <p:cNvSpPr>
            <a:spLocks noChangeArrowheads="1"/>
          </p:cNvSpPr>
          <p:nvPr/>
        </p:nvSpPr>
        <p:spPr bwMode="auto">
          <a:xfrm>
            <a:off x="9344025" y="2095500"/>
            <a:ext cx="1555750" cy="912813"/>
          </a:xfrm>
          <a:custGeom>
            <a:avLst/>
            <a:gdLst>
              <a:gd name="T0" fmla="*/ 741569 w 2295707"/>
              <a:gd name="T1" fmla="*/ 0 h 1345310"/>
              <a:gd name="T2" fmla="*/ 1041031 w 2295707"/>
              <a:gd name="T3" fmla="*/ 226585 h 1345310"/>
              <a:gd name="T4" fmla="*/ 1045677 w 2295707"/>
              <a:gd name="T5" fmla="*/ 269372 h 1345310"/>
              <a:gd name="T6" fmla="*/ 1053973 w 2295707"/>
              <a:gd name="T7" fmla="*/ 265379 h 1345310"/>
              <a:gd name="T8" fmla="*/ 1123432 w 2295707"/>
              <a:gd name="T9" fmla="*/ 254865 h 1345310"/>
              <a:gd name="T10" fmla="*/ 1352265 w 2295707"/>
              <a:gd name="T11" fmla="*/ 441601 h 1345310"/>
              <a:gd name="T12" fmla="*/ 1354439 w 2295707"/>
              <a:gd name="T13" fmla="*/ 463190 h 1345310"/>
              <a:gd name="T14" fmla="*/ 1375483 w 2295707"/>
              <a:gd name="T15" fmla="*/ 465313 h 1345310"/>
              <a:gd name="T16" fmla="*/ 1555750 w 2295707"/>
              <a:gd name="T17" fmla="*/ 686767 h 1345310"/>
              <a:gd name="T18" fmla="*/ 1329983 w 2295707"/>
              <a:gd name="T19" fmla="*/ 912813 h 1345310"/>
              <a:gd name="T20" fmla="*/ 225767 w 2295707"/>
              <a:gd name="T21" fmla="*/ 912813 h 1345310"/>
              <a:gd name="T22" fmla="*/ 0 w 2295707"/>
              <a:gd name="T23" fmla="*/ 686767 h 1345310"/>
              <a:gd name="T24" fmla="*/ 225767 w 2295707"/>
              <a:gd name="T25" fmla="*/ 460721 h 1345310"/>
              <a:gd name="T26" fmla="*/ 319786 w 2295707"/>
              <a:gd name="T27" fmla="*/ 460721 h 1345310"/>
              <a:gd name="T28" fmla="*/ 313368 w 2295707"/>
              <a:gd name="T29" fmla="*/ 451190 h 1345310"/>
              <a:gd name="T30" fmla="*/ 304641 w 2295707"/>
              <a:gd name="T31" fmla="*/ 407912 h 1345310"/>
              <a:gd name="T32" fmla="*/ 313368 w 2295707"/>
              <a:gd name="T33" fmla="*/ 364635 h 1345310"/>
              <a:gd name="T34" fmla="*/ 415688 w 2295707"/>
              <a:gd name="T35" fmla="*/ 296728 h 1345310"/>
              <a:gd name="T36" fmla="*/ 437304 w 2295707"/>
              <a:gd name="T37" fmla="*/ 296728 h 1345310"/>
              <a:gd name="T38" fmla="*/ 435898 w 2295707"/>
              <a:gd name="T39" fmla="*/ 283776 h 1345310"/>
              <a:gd name="T40" fmla="*/ 741569 w 2295707"/>
              <a:gd name="T41" fmla="*/ 0 h 13453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95707"/>
              <a:gd name="T64" fmla="*/ 0 h 1345310"/>
              <a:gd name="T65" fmla="*/ 2295707 w 2295707"/>
              <a:gd name="T66" fmla="*/ 1345310 h 13453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95707" h="1345310">
                <a:moveTo>
                  <a:pt x="1094280" y="0"/>
                </a:moveTo>
                <a:cubicBezTo>
                  <a:pt x="1312253" y="0"/>
                  <a:pt x="1494114" y="143362"/>
                  <a:pt x="1536173" y="333943"/>
                </a:cubicBezTo>
                <a:lnTo>
                  <a:pt x="1543029" y="397003"/>
                </a:lnTo>
                <a:lnTo>
                  <a:pt x="1555271" y="391118"/>
                </a:lnTo>
                <a:cubicBezTo>
                  <a:pt x="1587649" y="381047"/>
                  <a:pt x="1622075" y="375622"/>
                  <a:pt x="1657767" y="375622"/>
                </a:cubicBezTo>
                <a:cubicBezTo>
                  <a:pt x="1824331" y="375622"/>
                  <a:pt x="1963300" y="493771"/>
                  <a:pt x="1995439" y="650834"/>
                </a:cubicBezTo>
                <a:lnTo>
                  <a:pt x="1998647" y="682652"/>
                </a:lnTo>
                <a:lnTo>
                  <a:pt x="2029700" y="685782"/>
                </a:lnTo>
                <a:cubicBezTo>
                  <a:pt x="2181510" y="716847"/>
                  <a:pt x="2295707" y="851168"/>
                  <a:pt x="2295707" y="1012162"/>
                </a:cubicBezTo>
                <a:cubicBezTo>
                  <a:pt x="2295707" y="1196155"/>
                  <a:pt x="2146552" y="1345310"/>
                  <a:pt x="1962559" y="1345310"/>
                </a:cubicBezTo>
                <a:lnTo>
                  <a:pt x="333148" y="1345310"/>
                </a:lnTo>
                <a:cubicBezTo>
                  <a:pt x="149155" y="1345310"/>
                  <a:pt x="0" y="1196155"/>
                  <a:pt x="0" y="1012162"/>
                </a:cubicBezTo>
                <a:cubicBezTo>
                  <a:pt x="0" y="828169"/>
                  <a:pt x="149155" y="679014"/>
                  <a:pt x="333148" y="679014"/>
                </a:cubicBezTo>
                <a:lnTo>
                  <a:pt x="471885" y="679014"/>
                </a:lnTo>
                <a:lnTo>
                  <a:pt x="462414" y="664967"/>
                </a:lnTo>
                <a:lnTo>
                  <a:pt x="449537" y="601184"/>
                </a:lnTo>
                <a:lnTo>
                  <a:pt x="462414" y="537401"/>
                </a:lnTo>
                <a:cubicBezTo>
                  <a:pt x="487290" y="478587"/>
                  <a:pt x="545526" y="437320"/>
                  <a:pt x="613401" y="437320"/>
                </a:cubicBezTo>
                <a:lnTo>
                  <a:pt x="645298" y="437320"/>
                </a:lnTo>
                <a:lnTo>
                  <a:pt x="643223" y="418231"/>
                </a:lnTo>
                <a:cubicBezTo>
                  <a:pt x="643223" y="187248"/>
                  <a:pt x="845168" y="0"/>
                  <a:pt x="1094280" y="0"/>
                </a:cubicBezTo>
                <a:close/>
              </a:path>
            </a:pathLst>
          </a:custGeom>
          <a:solidFill>
            <a:srgbClr val="FFFFFF">
              <a:alpha val="3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9227" name="任意多边形 66"/>
          <p:cNvSpPr>
            <a:spLocks noChangeArrowheads="1"/>
          </p:cNvSpPr>
          <p:nvPr/>
        </p:nvSpPr>
        <p:spPr bwMode="auto">
          <a:xfrm flipH="1">
            <a:off x="2682875" y="4568825"/>
            <a:ext cx="711200" cy="417513"/>
          </a:xfrm>
          <a:custGeom>
            <a:avLst/>
            <a:gdLst>
              <a:gd name="T0" fmla="*/ 339003 w 2295707"/>
              <a:gd name="T1" fmla="*/ 0 h 1345310"/>
              <a:gd name="T2" fmla="*/ 475900 w 2295707"/>
              <a:gd name="T3" fmla="*/ 103638 h 1345310"/>
              <a:gd name="T4" fmla="*/ 478024 w 2295707"/>
              <a:gd name="T5" fmla="*/ 123209 h 1345310"/>
              <a:gd name="T6" fmla="*/ 481816 w 2295707"/>
              <a:gd name="T7" fmla="*/ 121382 h 1345310"/>
              <a:gd name="T8" fmla="*/ 513569 w 2295707"/>
              <a:gd name="T9" fmla="*/ 116573 h 1345310"/>
              <a:gd name="T10" fmla="*/ 618178 w 2295707"/>
              <a:gd name="T11" fmla="*/ 201984 h 1345310"/>
              <a:gd name="T12" fmla="*/ 619172 w 2295707"/>
              <a:gd name="T13" fmla="*/ 211859 h 1345310"/>
              <a:gd name="T14" fmla="*/ 628792 w 2295707"/>
              <a:gd name="T15" fmla="*/ 212830 h 1345310"/>
              <a:gd name="T16" fmla="*/ 711200 w 2295707"/>
              <a:gd name="T17" fmla="*/ 314121 h 1345310"/>
              <a:gd name="T18" fmla="*/ 607992 w 2295707"/>
              <a:gd name="T19" fmla="*/ 417513 h 1345310"/>
              <a:gd name="T20" fmla="*/ 103208 w 2295707"/>
              <a:gd name="T21" fmla="*/ 417513 h 1345310"/>
              <a:gd name="T22" fmla="*/ 0 w 2295707"/>
              <a:gd name="T23" fmla="*/ 314121 h 1345310"/>
              <a:gd name="T24" fmla="*/ 103208 w 2295707"/>
              <a:gd name="T25" fmla="*/ 210730 h 1345310"/>
              <a:gd name="T26" fmla="*/ 146188 w 2295707"/>
              <a:gd name="T27" fmla="*/ 210730 h 1345310"/>
              <a:gd name="T28" fmla="*/ 143254 w 2295707"/>
              <a:gd name="T29" fmla="*/ 206371 h 1345310"/>
              <a:gd name="T30" fmla="*/ 139265 w 2295707"/>
              <a:gd name="T31" fmla="*/ 186576 h 1345310"/>
              <a:gd name="T32" fmla="*/ 143254 w 2295707"/>
              <a:gd name="T33" fmla="*/ 166781 h 1345310"/>
              <a:gd name="T34" fmla="*/ 190029 w 2295707"/>
              <a:gd name="T35" fmla="*/ 135721 h 1345310"/>
              <a:gd name="T36" fmla="*/ 199911 w 2295707"/>
              <a:gd name="T37" fmla="*/ 135721 h 1345310"/>
              <a:gd name="T38" fmla="*/ 199268 w 2295707"/>
              <a:gd name="T39" fmla="*/ 129797 h 1345310"/>
              <a:gd name="T40" fmla="*/ 339003 w 2295707"/>
              <a:gd name="T41" fmla="*/ 0 h 13453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95707"/>
              <a:gd name="T64" fmla="*/ 0 h 1345310"/>
              <a:gd name="T65" fmla="*/ 2295707 w 2295707"/>
              <a:gd name="T66" fmla="*/ 1345310 h 13453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95707" h="1345310">
                <a:moveTo>
                  <a:pt x="1094280" y="0"/>
                </a:moveTo>
                <a:cubicBezTo>
                  <a:pt x="1312253" y="0"/>
                  <a:pt x="1494114" y="143362"/>
                  <a:pt x="1536173" y="333943"/>
                </a:cubicBezTo>
                <a:lnTo>
                  <a:pt x="1543029" y="397003"/>
                </a:lnTo>
                <a:lnTo>
                  <a:pt x="1555271" y="391118"/>
                </a:lnTo>
                <a:cubicBezTo>
                  <a:pt x="1587649" y="381047"/>
                  <a:pt x="1622075" y="375622"/>
                  <a:pt x="1657767" y="375622"/>
                </a:cubicBezTo>
                <a:cubicBezTo>
                  <a:pt x="1824331" y="375622"/>
                  <a:pt x="1963300" y="493771"/>
                  <a:pt x="1995439" y="650834"/>
                </a:cubicBezTo>
                <a:lnTo>
                  <a:pt x="1998647" y="682652"/>
                </a:lnTo>
                <a:lnTo>
                  <a:pt x="2029700" y="685782"/>
                </a:lnTo>
                <a:cubicBezTo>
                  <a:pt x="2181510" y="716847"/>
                  <a:pt x="2295707" y="851168"/>
                  <a:pt x="2295707" y="1012162"/>
                </a:cubicBezTo>
                <a:cubicBezTo>
                  <a:pt x="2295707" y="1196155"/>
                  <a:pt x="2146552" y="1345310"/>
                  <a:pt x="1962559" y="1345310"/>
                </a:cubicBezTo>
                <a:lnTo>
                  <a:pt x="333148" y="1345310"/>
                </a:lnTo>
                <a:cubicBezTo>
                  <a:pt x="149155" y="1345310"/>
                  <a:pt x="0" y="1196155"/>
                  <a:pt x="0" y="1012162"/>
                </a:cubicBezTo>
                <a:cubicBezTo>
                  <a:pt x="0" y="828169"/>
                  <a:pt x="149155" y="679014"/>
                  <a:pt x="333148" y="679014"/>
                </a:cubicBezTo>
                <a:lnTo>
                  <a:pt x="471885" y="679014"/>
                </a:lnTo>
                <a:lnTo>
                  <a:pt x="462414" y="664967"/>
                </a:lnTo>
                <a:lnTo>
                  <a:pt x="449537" y="601184"/>
                </a:lnTo>
                <a:lnTo>
                  <a:pt x="462414" y="537401"/>
                </a:lnTo>
                <a:cubicBezTo>
                  <a:pt x="487290" y="478587"/>
                  <a:pt x="545526" y="437320"/>
                  <a:pt x="613401" y="437320"/>
                </a:cubicBezTo>
                <a:lnTo>
                  <a:pt x="645298" y="437320"/>
                </a:lnTo>
                <a:lnTo>
                  <a:pt x="643223" y="418231"/>
                </a:lnTo>
                <a:cubicBezTo>
                  <a:pt x="643223" y="187248"/>
                  <a:pt x="845168" y="0"/>
                  <a:pt x="1094280" y="0"/>
                </a:cubicBezTo>
                <a:close/>
              </a:path>
            </a:pathLst>
          </a:custGeom>
          <a:solidFill>
            <a:srgbClr val="FFFFFF">
              <a:alpha val="3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微软雅黑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3756</TotalTime>
  <Pages>0</Pages>
  <Words>917</Words>
  <Characters>0</Characters>
  <Application>Microsoft Office PowerPoint</Application>
  <DocSecurity>0</DocSecurity>
  <PresentationFormat>宽屏</PresentationFormat>
  <Lines>0</Lines>
  <Paragraphs>75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Raleway</vt:lpstr>
      <vt:lpstr>宋体</vt:lpstr>
      <vt:lpstr>微软雅黑</vt:lpstr>
      <vt:lpstr>Arial</vt:lpstr>
      <vt:lpstr>Calibri</vt:lpstr>
      <vt:lpstr>Office 主题</vt:lpstr>
      <vt:lpstr>PowerPoint 演示文稿</vt:lpstr>
      <vt:lpstr>PowerPoint 演示文稿</vt:lpstr>
      <vt:lpstr>实现方案</vt:lpstr>
      <vt:lpstr>WebGL画图：从入土到入门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cp:keywords/>
  <dc:description/>
  <cp:lastModifiedBy>Windows 用户</cp:lastModifiedBy>
  <cp:revision>101</cp:revision>
  <dcterms:created xsi:type="dcterms:W3CDTF">2015-08-19T15:27:00Z</dcterms:created>
  <dcterms:modified xsi:type="dcterms:W3CDTF">2020-10-27T03:39:26Z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2052-9.1.0.5184</vt:lpwstr>
  </property>
</Properties>
</file>